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5" r:id="rId10"/>
  </p:sldIdLst>
  <p:sldSz cx="18288000" cy="10287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Telegraf" pitchFamily="2" charset="0"/>
      <p:regular r:id="rId15"/>
    </p:embeddedFont>
    <p:embeddedFont>
      <p:font typeface="Telegraf Bold" pitchFamily="2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1893"/>
    <a:srgbClr val="34CA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4651" autoAdjust="0"/>
  </p:normalViewPr>
  <p:slideViewPr>
    <p:cSldViewPr>
      <p:cViewPr varScale="1">
        <p:scale>
          <a:sx n="67" d="100"/>
          <a:sy n="67" d="100"/>
        </p:scale>
        <p:origin x="184" y="3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5522324132560353"/>
          <c:y val="8.0837019530984391E-2"/>
          <c:w val="0.70786867987655389"/>
          <c:h val="0.8281822738900112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 ($M)</c:v>
                </c:pt>
              </c:strCache>
            </c:strRef>
          </c:tx>
          <c:dPt>
            <c:idx val="0"/>
            <c:bubble3D val="0"/>
            <c:spPr>
              <a:solidFill>
                <a:srgbClr val="01189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49C-5B48-B40E-BAB40C6DCC26}"/>
              </c:ext>
            </c:extLst>
          </c:dPt>
          <c:dPt>
            <c:idx val="1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49C-5B48-B40E-BAB40C6DCC26}"/>
              </c:ext>
            </c:extLst>
          </c:dPt>
          <c:dPt>
            <c:idx val="2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149C-5B48-B40E-BAB40C6DCC2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6B9-F74A-BA46-C84CECCDB1BA}"/>
              </c:ext>
            </c:extLst>
          </c:dPt>
          <c:dLbls>
            <c:dLbl>
              <c:idx val="0"/>
              <c:layout>
                <c:manualLayout>
                  <c:x val="-0.14469527847480604"/>
                  <c:y val="-3.7886974827559851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49C-5B48-B40E-BAB40C6DCC2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454212454212454"/>
                      <c:h val="6.053395410268441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149C-5B48-B40E-BAB40C6DCC2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2875457875457872E-2"/>
                      <c:h val="8.624749212860345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149C-5B48-B40E-BAB40C6DCC2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Technology / Hardware</c:v>
                </c:pt>
                <c:pt idx="1">
                  <c:v>Data &amp; Models</c:v>
                </c:pt>
                <c:pt idx="2">
                  <c:v>Process Re-engineering / Training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4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9C-5B48-B40E-BAB40C6DCC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5973539021907971E-3"/>
          <c:y val="0.93346250040621848"/>
          <c:w val="0.98889922413544462"/>
          <c:h val="6.65374995937814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971966739451696E-2"/>
          <c:y val="0.10778220228349183"/>
          <c:w val="0.9378207503473831"/>
          <c:h val="0.7474273365217782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Investment / Savings ($M)</c:v>
                </c:pt>
              </c:strCache>
            </c:strRef>
          </c:tx>
          <c:spPr>
            <a:ln w="28575" cap="rnd">
              <a:solidFill>
                <a:srgbClr val="01189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 (Initial)</c:v>
                </c:pt>
                <c:pt idx="1">
                  <c:v>1</c:v>
                </c:pt>
                <c:pt idx="2">
                  <c:v>1.7 (Payback Point)</c:v>
                </c:pt>
                <c:pt idx="3">
                  <c:v>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29-1644-BF3D-D33DE692D2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Net Cash Flow ($M)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 (Initial)</c:v>
                </c:pt>
                <c:pt idx="1">
                  <c:v>1</c:v>
                </c:pt>
                <c:pt idx="2">
                  <c:v>1.7 (Payback Point)</c:v>
                </c:pt>
                <c:pt idx="3">
                  <c:v>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29-1644-BF3D-D33DE692D28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Cumulative Net Cash Flow ($M)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 (Initial)</c:v>
                </c:pt>
                <c:pt idx="1">
                  <c:v>1</c:v>
                </c:pt>
                <c:pt idx="2">
                  <c:v>1.7 (Payback Point)</c:v>
                </c:pt>
                <c:pt idx="3">
                  <c:v>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-12</c:v>
                </c:pt>
                <c:pt idx="1">
                  <c:v>-5</c:v>
                </c:pt>
                <c:pt idx="2">
                  <c:v>0</c:v>
                </c:pt>
                <c:pt idx="3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929-1644-BF3D-D33DE692D2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17373759"/>
        <c:axId val="829984367"/>
      </c:lineChart>
      <c:catAx>
        <c:axId val="8173737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29984367"/>
        <c:crosses val="autoZero"/>
        <c:auto val="1"/>
        <c:lblAlgn val="ctr"/>
        <c:lblOffset val="100"/>
        <c:noMultiLvlLbl val="0"/>
      </c:catAx>
      <c:valAx>
        <c:axId val="829984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17373759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10-Year NPV ($M)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solidFill>
                  <a:srgbClr val="00B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C53-7D40-914B-FDBB77631A9E}"/>
              </c:ext>
            </c:extLst>
          </c:dPt>
          <c:dPt>
            <c:idx val="1"/>
            <c:invertIfNegative val="0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C53-7D40-914B-FDBB77631A9E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C53-7D40-914B-FDBB77631A9E}"/>
              </c:ext>
            </c:extLst>
          </c:dPt>
          <c:dLbls>
            <c:dLbl>
              <c:idx val="1"/>
              <c:spPr>
                <a:noFill/>
                <a:ln w="12700">
                  <a:solidFill>
                    <a:schemeClr val="tx1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5C53-7D40-914B-FDBB77631A9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Optimistic Scenario</c:v>
                </c:pt>
                <c:pt idx="1">
                  <c:v>Base Case Scenario</c:v>
                </c:pt>
                <c:pt idx="2">
                  <c:v>Pessimistic Scenario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114</c:v>
                </c:pt>
                <c:pt idx="1">
                  <c:v>75</c:v>
                </c:pt>
                <c:pt idx="2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53-7D40-914B-FDBB77631A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Optimistic Scenario</c:v>
                </c:pt>
                <c:pt idx="1">
                  <c:v>Base Case Scenario</c:v>
                </c:pt>
                <c:pt idx="2">
                  <c:v>Pessimistic Scenario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5C53-7D40-914B-FDBB77631A9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Optimistic Scenario</c:v>
                </c:pt>
                <c:pt idx="1">
                  <c:v>Base Case Scenario</c:v>
                </c:pt>
                <c:pt idx="2">
                  <c:v>Pessimistic Scenario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5C53-7D40-914B-FDBB77631A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56023631"/>
        <c:axId val="855902447"/>
      </c:barChart>
      <c:catAx>
        <c:axId val="8560236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55902447"/>
        <c:crosses val="autoZero"/>
        <c:auto val="1"/>
        <c:lblAlgn val="ctr"/>
        <c:lblOffset val="100"/>
        <c:noMultiLvlLbl val="0"/>
      </c:catAx>
      <c:valAx>
        <c:axId val="855902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560236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legendEntry>
        <c:idx val="2"/>
        <c:delete val="1"/>
      </c:legendEntry>
      <c:layout>
        <c:manualLayout>
          <c:xMode val="edge"/>
          <c:yMode val="edge"/>
          <c:x val="0.36842476294807058"/>
          <c:y val="0.94378362245550074"/>
          <c:w val="0.29699340559457332"/>
          <c:h val="4.984237304354867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80431" y="8868232"/>
            <a:ext cx="1712713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1620065" y="1933168"/>
            <a:ext cx="3009225" cy="6018450"/>
            <a:chOff x="0" y="0"/>
            <a:chExt cx="3331210" cy="66624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31210" cy="6662420"/>
            </a:xfrm>
            <a:custGeom>
              <a:avLst/>
              <a:gdLst/>
              <a:ahLst/>
              <a:cxnLst/>
              <a:rect l="l" t="t" r="r" b="b"/>
              <a:pathLst>
                <a:path w="3331210" h="666242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blipFill>
              <a:blip r:embed="rId2"/>
              <a:stretch>
                <a:fillRect l="-150121" r="-49878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4530918" y="1933168"/>
            <a:ext cx="3009225" cy="6018450"/>
            <a:chOff x="0" y="0"/>
            <a:chExt cx="317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75000" cy="6350000"/>
            </a:xfrm>
            <a:custGeom>
              <a:avLst/>
              <a:gdLst/>
              <a:ahLst/>
              <a:cxnLst/>
              <a:rect l="l" t="t" r="r" b="b"/>
              <a:pathLst>
                <a:path w="3175000" h="6350000">
                  <a:moveTo>
                    <a:pt x="3175000" y="0"/>
                  </a:moveTo>
                  <a:lnTo>
                    <a:pt x="3175000" y="6350000"/>
                  </a:lnTo>
                  <a:cubicBezTo>
                    <a:pt x="1421498" y="6350000"/>
                    <a:pt x="0" y="4928502"/>
                    <a:pt x="0" y="3175000"/>
                  </a:cubicBezTo>
                  <a:cubicBezTo>
                    <a:pt x="0" y="1421498"/>
                    <a:pt x="1421498" y="0"/>
                    <a:pt x="3175000" y="0"/>
                  </a:cubicBezTo>
                  <a:close/>
                </a:path>
              </a:pathLst>
            </a:custGeom>
            <a:solidFill>
              <a:srgbClr val="0038D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028700" y="723103"/>
            <a:ext cx="243939" cy="24393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D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61678" y="619159"/>
            <a:ext cx="16773922" cy="389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151"/>
              </a:lnSpc>
              <a:spcBef>
                <a:spcPct val="0"/>
              </a:spcBef>
            </a:pPr>
            <a:r>
              <a:rPr lang="en" altLang="zh-CN" sz="2400" dirty="0"/>
              <a:t>The T-1 Program is a strategic accelerator for AT's asset resilience, delivering a 1.7-year payback and strong long-term NPV.</a:t>
            </a:r>
            <a:endParaRPr lang="en-US" sz="2251" b="1" dirty="0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422822" y="9096781"/>
            <a:ext cx="3117321" cy="43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zh-CN" sz="25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1</a:t>
            </a:r>
            <a:endParaRPr lang="en-US" sz="2599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17163" y="9096781"/>
            <a:ext cx="3117321" cy="43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dirty="0" err="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Yunmiao</a:t>
            </a:r>
            <a:r>
              <a:rPr lang="zh-CN" altLang="en-US" sz="25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altLang="zh-CN" sz="25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Zhang</a:t>
            </a:r>
            <a:r>
              <a:rPr lang="zh-CN" altLang="en-US" sz="25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endParaRPr lang="en-US" sz="2599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006782" y="9096781"/>
            <a:ext cx="1406261" cy="47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-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30761" y="9096781"/>
            <a:ext cx="1406261" cy="47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-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3303" y="1599150"/>
            <a:ext cx="11479480" cy="2404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875"/>
              </a:lnSpc>
            </a:pPr>
            <a:r>
              <a:rPr lang="en" altLang="zh-CN" sz="5400" dirty="0"/>
              <a:t>AI Digital Twin-Driven T-1 Predictive Maintenance Program</a:t>
            </a:r>
            <a:endParaRPr lang="en-US" sz="9875" b="1" dirty="0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03877" y="4564665"/>
            <a:ext cx="7362483" cy="719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" altLang="zh-CN" sz="2400" b="1" dirty="0"/>
              <a:t>Consultant:</a:t>
            </a:r>
            <a:r>
              <a:rPr lang="en" altLang="zh-CN" sz="2400" dirty="0"/>
              <a:t> </a:t>
            </a:r>
            <a:r>
              <a:rPr lang="en" altLang="zh-CN" sz="2400" dirty="0" err="1"/>
              <a:t>Yunmiao</a:t>
            </a:r>
            <a:r>
              <a:rPr lang="en" altLang="zh-CN" sz="2400" dirty="0"/>
              <a:t> Zhang | </a:t>
            </a:r>
            <a:r>
              <a:rPr lang="en" altLang="zh-CN" sz="2400" b="1" dirty="0"/>
              <a:t>Role:</a:t>
            </a:r>
            <a:r>
              <a:rPr lang="en" altLang="zh-CN" sz="2400" dirty="0"/>
              <a:t> Business Integrator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785C2967-0896-9101-5C3D-60BEA26340A9}"/>
              </a:ext>
            </a:extLst>
          </p:cNvPr>
          <p:cNvSpPr txBox="1"/>
          <p:nvPr/>
        </p:nvSpPr>
        <p:spPr>
          <a:xfrm>
            <a:off x="601905" y="6928487"/>
            <a:ext cx="8809754" cy="2199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" altLang="zh-CN" sz="2400" b="1" dirty="0"/>
              <a:t>Financial Snapshot:</a:t>
            </a:r>
            <a:endParaRPr lang="en" altLang="zh-C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b="1" dirty="0"/>
              <a:t> </a:t>
            </a:r>
            <a:r>
              <a:rPr lang="en" altLang="zh-CN" sz="2400" b="1" dirty="0"/>
              <a:t>Investment Request:</a:t>
            </a:r>
            <a:r>
              <a:rPr lang="en" altLang="zh-CN" sz="2400" dirty="0"/>
              <a:t> $12 M (Over 3 Years)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b="1" dirty="0"/>
              <a:t> </a:t>
            </a:r>
            <a:r>
              <a:rPr lang="en" altLang="zh-CN" sz="2400" b="1" dirty="0"/>
              <a:t>Payback Period (PBP):</a:t>
            </a:r>
            <a:r>
              <a:rPr lang="en" altLang="zh-CN" sz="2400" dirty="0"/>
              <a:t> 1.7 Years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b="1" dirty="0"/>
              <a:t> </a:t>
            </a:r>
            <a:r>
              <a:rPr lang="en" altLang="zh-CN" sz="2400" b="1" dirty="0"/>
              <a:t>10-Year NPV (Base Case):</a:t>
            </a:r>
            <a:r>
              <a:rPr lang="en" altLang="zh-CN" sz="2400" dirty="0"/>
              <a:t> $75 M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" altLang="zh-CN" sz="2400" dirty="0"/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04E84ACB-8447-11CF-3451-2E98CDD861A4}"/>
              </a:ext>
            </a:extLst>
          </p:cNvPr>
          <p:cNvSpPr txBox="1"/>
          <p:nvPr/>
        </p:nvSpPr>
        <p:spPr>
          <a:xfrm>
            <a:off x="7096636" y="9020581"/>
            <a:ext cx="4064035" cy="43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Auckland Transport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B5E47315-5E78-BF07-4841-43FDA1F8AB96}"/>
              </a:ext>
            </a:extLst>
          </p:cNvPr>
          <p:cNvGrpSpPr/>
          <p:nvPr/>
        </p:nvGrpSpPr>
        <p:grpSpPr>
          <a:xfrm>
            <a:off x="1028700" y="723103"/>
            <a:ext cx="243939" cy="243939"/>
            <a:chOff x="0" y="0"/>
            <a:chExt cx="812800" cy="812800"/>
          </a:xfrm>
        </p:grpSpPr>
        <p:sp>
          <p:nvSpPr>
            <p:cNvPr id="3" name="Freeform 8">
              <a:extLst>
                <a:ext uri="{FF2B5EF4-FFF2-40B4-BE49-F238E27FC236}">
                  <a16:creationId xmlns:a16="http://schemas.microsoft.com/office/drawing/2014/main" id="{76ED2AD7-C16E-B24C-0930-4DF33AF285F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DF"/>
            </a:solidFill>
          </p:spPr>
        </p:sp>
        <p:sp>
          <p:nvSpPr>
            <p:cNvPr id="4" name="TextBox 9">
              <a:extLst>
                <a:ext uri="{FF2B5EF4-FFF2-40B4-BE49-F238E27FC236}">
                  <a16:creationId xmlns:a16="http://schemas.microsoft.com/office/drawing/2014/main" id="{9C09EC40-3F6C-AEC5-A0E9-B421A1A38D5D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DE206213-36C0-E616-4560-8E3E3870A79F}"/>
              </a:ext>
            </a:extLst>
          </p:cNvPr>
          <p:cNvSpPr txBox="1"/>
          <p:nvPr/>
        </p:nvSpPr>
        <p:spPr>
          <a:xfrm>
            <a:off x="1313901" y="665386"/>
            <a:ext cx="120186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000" dirty="0"/>
              <a:t>This report follows a structured, hypothesis-driven approach, focusing on quantifiable value and executable steps.</a:t>
            </a:r>
            <a:endParaRPr kumimoji="1" lang="zh-CN" altLang="en-US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222F03-DEDD-8EF0-13FF-52CF2A759ABF}"/>
              </a:ext>
            </a:extLst>
          </p:cNvPr>
          <p:cNvSpPr txBox="1"/>
          <p:nvPr/>
        </p:nvSpPr>
        <p:spPr>
          <a:xfrm>
            <a:off x="6596057" y="1842443"/>
            <a:ext cx="38827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4000" b="1" dirty="0"/>
              <a:t>Table of Contents</a:t>
            </a:r>
            <a:endParaRPr kumimoji="1" lang="zh-CN" altLang="en-US" sz="40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B1F4A4-68FC-0EE3-F93F-6C23C3B7D583}"/>
              </a:ext>
            </a:extLst>
          </p:cNvPr>
          <p:cNvSpPr txBox="1"/>
          <p:nvPr/>
        </p:nvSpPr>
        <p:spPr>
          <a:xfrm>
            <a:off x="4419600" y="3358054"/>
            <a:ext cx="10652468" cy="4585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" altLang="zh-CN" sz="3200" dirty="0"/>
              <a:t>The Business Imperative: Problem &amp; Opportunity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" altLang="zh-CN" sz="3200" dirty="0"/>
              <a:t>The T-1 Solution: Phased Implementation Roadmap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" altLang="zh-CN" sz="3200" dirty="0"/>
              <a:t>Financial Viability: Payback and NPV Analysis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" altLang="zh-CN" sz="3200" dirty="0"/>
              <a:t>Execution &amp; Governance: The Role of the Business Integrator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" altLang="zh-CN" sz="3200" dirty="0"/>
              <a:t>Risk Mitigation &amp; Call to Action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kumimoji="1" lang="zh-CN" altLang="en-US" sz="32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D7BCA60-A2B1-C733-9C6D-78163AAC10A2}"/>
              </a:ext>
            </a:extLst>
          </p:cNvPr>
          <p:cNvGrpSpPr/>
          <p:nvPr/>
        </p:nvGrpSpPr>
        <p:grpSpPr>
          <a:xfrm rot="-5400000">
            <a:off x="676822" y="5533478"/>
            <a:ext cx="1949271" cy="4217315"/>
            <a:chOff x="0" y="0"/>
            <a:chExt cx="3942847" cy="8530486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5EC384C-5A8E-9DEE-9FE0-F1081907435E}"/>
                </a:ext>
              </a:extLst>
            </p:cNvPr>
            <p:cNvSpPr/>
            <p:nvPr/>
          </p:nvSpPr>
          <p:spPr>
            <a:xfrm>
              <a:off x="0" y="0"/>
              <a:ext cx="3942847" cy="8530486"/>
            </a:xfrm>
            <a:custGeom>
              <a:avLst/>
              <a:gdLst/>
              <a:ahLst/>
              <a:cxnLst/>
              <a:rect l="l" t="t" r="r" b="b"/>
              <a:pathLst>
                <a:path w="3942847" h="8530486">
                  <a:moveTo>
                    <a:pt x="0" y="4265243"/>
                  </a:moveTo>
                  <a:lnTo>
                    <a:pt x="0" y="0"/>
                  </a:lnTo>
                  <a:cubicBezTo>
                    <a:pt x="2178111" y="0"/>
                    <a:pt x="3942847" y="1909034"/>
                    <a:pt x="3942847" y="4265243"/>
                  </a:cubicBezTo>
                  <a:cubicBezTo>
                    <a:pt x="3942847" y="6621452"/>
                    <a:pt x="2178111" y="8530486"/>
                    <a:pt x="0" y="8530486"/>
                  </a:cubicBezTo>
                  <a:lnTo>
                    <a:pt x="0" y="4265243"/>
                  </a:lnTo>
                  <a:close/>
                </a:path>
              </a:pathLst>
            </a:custGeom>
            <a:solidFill>
              <a:srgbClr val="0038D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7">
            <a:extLst>
              <a:ext uri="{FF2B5EF4-FFF2-40B4-BE49-F238E27FC236}">
                <a16:creationId xmlns:a16="http://schemas.microsoft.com/office/drawing/2014/main" id="{8FB4FF8F-5CB2-18EF-33E0-41F43CC9F948}"/>
              </a:ext>
            </a:extLst>
          </p:cNvPr>
          <p:cNvGrpSpPr/>
          <p:nvPr/>
        </p:nvGrpSpPr>
        <p:grpSpPr>
          <a:xfrm rot="-5400000">
            <a:off x="687332" y="7452380"/>
            <a:ext cx="1949271" cy="4217315"/>
            <a:chOff x="0" y="0"/>
            <a:chExt cx="3942847" cy="8530486"/>
          </a:xfrm>
        </p:grpSpPr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398957ED-572A-AE71-4DD2-BFEBCA67A3C8}"/>
                </a:ext>
              </a:extLst>
            </p:cNvPr>
            <p:cNvSpPr/>
            <p:nvPr/>
          </p:nvSpPr>
          <p:spPr>
            <a:xfrm>
              <a:off x="0" y="0"/>
              <a:ext cx="3942847" cy="8530486"/>
            </a:xfrm>
            <a:custGeom>
              <a:avLst/>
              <a:gdLst/>
              <a:ahLst/>
              <a:cxnLst/>
              <a:rect l="l" t="t" r="r" b="b"/>
              <a:pathLst>
                <a:path w="3942847" h="8530486">
                  <a:moveTo>
                    <a:pt x="0" y="4265243"/>
                  </a:moveTo>
                  <a:lnTo>
                    <a:pt x="0" y="0"/>
                  </a:lnTo>
                  <a:cubicBezTo>
                    <a:pt x="2178111" y="0"/>
                    <a:pt x="3942847" y="1909034"/>
                    <a:pt x="3942847" y="4265243"/>
                  </a:cubicBezTo>
                  <a:cubicBezTo>
                    <a:pt x="3942847" y="6621452"/>
                    <a:pt x="2178111" y="8530486"/>
                    <a:pt x="0" y="8530486"/>
                  </a:cubicBezTo>
                  <a:lnTo>
                    <a:pt x="0" y="4265243"/>
                  </a:lnTo>
                  <a:close/>
                </a:path>
              </a:pathLst>
            </a:custGeom>
            <a:solidFill>
              <a:srgbClr val="0038DF"/>
            </a:solidFill>
            <a:ln w="12700">
              <a:solidFill>
                <a:srgbClr val="000000"/>
              </a:solidFill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2" name="Group 7">
            <a:extLst>
              <a:ext uri="{FF2B5EF4-FFF2-40B4-BE49-F238E27FC236}">
                <a16:creationId xmlns:a16="http://schemas.microsoft.com/office/drawing/2014/main" id="{8FB4FF8F-5CB2-18EF-33E0-41F43CC9F948}"/>
              </a:ext>
            </a:extLst>
          </p:cNvPr>
          <p:cNvGrpSpPr/>
          <p:nvPr/>
        </p:nvGrpSpPr>
        <p:grpSpPr>
          <a:xfrm rot="5400000">
            <a:off x="14955312" y="-1391011"/>
            <a:ext cx="1949271" cy="4716106"/>
            <a:chOff x="0" y="0"/>
            <a:chExt cx="3942847" cy="8530486"/>
          </a:xfrm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398957ED-572A-AE71-4DD2-BFEBCA67A3C8}"/>
                </a:ext>
              </a:extLst>
            </p:cNvPr>
            <p:cNvSpPr/>
            <p:nvPr/>
          </p:nvSpPr>
          <p:spPr>
            <a:xfrm>
              <a:off x="0" y="0"/>
              <a:ext cx="3942847" cy="8530486"/>
            </a:xfrm>
            <a:custGeom>
              <a:avLst/>
              <a:gdLst/>
              <a:ahLst/>
              <a:cxnLst/>
              <a:rect l="l" t="t" r="r" b="b"/>
              <a:pathLst>
                <a:path w="3942847" h="8530486">
                  <a:moveTo>
                    <a:pt x="0" y="4265243"/>
                  </a:moveTo>
                  <a:lnTo>
                    <a:pt x="0" y="0"/>
                  </a:lnTo>
                  <a:cubicBezTo>
                    <a:pt x="2178111" y="0"/>
                    <a:pt x="3942847" y="1909034"/>
                    <a:pt x="3942847" y="4265243"/>
                  </a:cubicBezTo>
                  <a:cubicBezTo>
                    <a:pt x="3942847" y="6621452"/>
                    <a:pt x="2178111" y="8530486"/>
                    <a:pt x="0" y="8530486"/>
                  </a:cubicBezTo>
                  <a:lnTo>
                    <a:pt x="0" y="4265243"/>
                  </a:lnTo>
                  <a:close/>
                </a:path>
              </a:pathLst>
            </a:custGeom>
            <a:solidFill>
              <a:srgbClr val="0038DF"/>
            </a:solidFill>
            <a:ln w="12700">
              <a:solidFill>
                <a:srgbClr val="000000"/>
              </a:solidFill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4" name="Group 7">
            <a:extLst>
              <a:ext uri="{FF2B5EF4-FFF2-40B4-BE49-F238E27FC236}">
                <a16:creationId xmlns:a16="http://schemas.microsoft.com/office/drawing/2014/main" id="{8FB4FF8F-5CB2-18EF-33E0-41F43CC9F948}"/>
              </a:ext>
            </a:extLst>
          </p:cNvPr>
          <p:cNvGrpSpPr/>
          <p:nvPr/>
        </p:nvGrpSpPr>
        <p:grpSpPr>
          <a:xfrm rot="13841571">
            <a:off x="16346439" y="7645733"/>
            <a:ext cx="1949271" cy="4217315"/>
            <a:chOff x="0" y="0"/>
            <a:chExt cx="3942847" cy="8530486"/>
          </a:xfrm>
        </p:grpSpPr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398957ED-572A-AE71-4DD2-BFEBCA67A3C8}"/>
                </a:ext>
              </a:extLst>
            </p:cNvPr>
            <p:cNvSpPr/>
            <p:nvPr/>
          </p:nvSpPr>
          <p:spPr>
            <a:xfrm>
              <a:off x="0" y="0"/>
              <a:ext cx="3942847" cy="8530486"/>
            </a:xfrm>
            <a:custGeom>
              <a:avLst/>
              <a:gdLst/>
              <a:ahLst/>
              <a:cxnLst/>
              <a:rect l="l" t="t" r="r" b="b"/>
              <a:pathLst>
                <a:path w="3942847" h="8530486">
                  <a:moveTo>
                    <a:pt x="0" y="4265243"/>
                  </a:moveTo>
                  <a:lnTo>
                    <a:pt x="0" y="0"/>
                  </a:lnTo>
                  <a:cubicBezTo>
                    <a:pt x="2178111" y="0"/>
                    <a:pt x="3942847" y="1909034"/>
                    <a:pt x="3942847" y="4265243"/>
                  </a:cubicBezTo>
                  <a:cubicBezTo>
                    <a:pt x="3942847" y="6621452"/>
                    <a:pt x="2178111" y="8530486"/>
                    <a:pt x="0" y="8530486"/>
                  </a:cubicBezTo>
                  <a:lnTo>
                    <a:pt x="0" y="4265243"/>
                  </a:lnTo>
                  <a:close/>
                </a:path>
              </a:pathLst>
            </a:custGeom>
            <a:solidFill>
              <a:srgbClr val="0038DF"/>
            </a:solidFill>
            <a:ln w="12700">
              <a:solidFill>
                <a:srgbClr val="000000"/>
              </a:solidFill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6" name="Freeform 24">
            <a:extLst>
              <a:ext uri="{FF2B5EF4-FFF2-40B4-BE49-F238E27FC236}">
                <a16:creationId xmlns:a16="http://schemas.microsoft.com/office/drawing/2014/main" id="{72816832-4F1C-5DD6-D99B-4DDBEF7F8D36}"/>
              </a:ext>
            </a:extLst>
          </p:cNvPr>
          <p:cNvSpPr/>
          <p:nvPr/>
        </p:nvSpPr>
        <p:spPr>
          <a:xfrm flipH="1">
            <a:off x="8064548" y="8745081"/>
            <a:ext cx="2158903" cy="2510352"/>
          </a:xfrm>
          <a:custGeom>
            <a:avLst/>
            <a:gdLst/>
            <a:ahLst/>
            <a:cxnLst/>
            <a:rect l="l" t="t" r="r" b="b"/>
            <a:pathLst>
              <a:path w="2158903" h="2510352">
                <a:moveTo>
                  <a:pt x="2158903" y="0"/>
                </a:moveTo>
                <a:lnTo>
                  <a:pt x="0" y="0"/>
                </a:lnTo>
                <a:lnTo>
                  <a:pt x="0" y="2510353"/>
                </a:lnTo>
                <a:lnTo>
                  <a:pt x="2158903" y="2510353"/>
                </a:lnTo>
                <a:lnTo>
                  <a:pt x="215890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631114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0600" y="619159"/>
            <a:ext cx="243939" cy="24393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D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599028" y="1973324"/>
            <a:ext cx="1320544" cy="818737"/>
          </a:xfrm>
          <a:custGeom>
            <a:avLst/>
            <a:gdLst/>
            <a:ahLst/>
            <a:cxnLst/>
            <a:rect l="l" t="t" r="r" b="b"/>
            <a:pathLst>
              <a:path w="1320544" h="818737">
                <a:moveTo>
                  <a:pt x="0" y="0"/>
                </a:moveTo>
                <a:lnTo>
                  <a:pt x="1320544" y="0"/>
                </a:lnTo>
                <a:lnTo>
                  <a:pt x="1320544" y="818738"/>
                </a:lnTo>
                <a:lnTo>
                  <a:pt x="0" y="818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1160862" y="9404073"/>
            <a:ext cx="1712713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263270" y="543157"/>
            <a:ext cx="15729330" cy="753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" altLang="zh-CN" sz="2400" dirty="0"/>
              <a:t>The current reactive maintenance model is unsustainable, with an </a:t>
            </a:r>
            <a:r>
              <a:rPr lang="en" altLang="zh-CN" sz="2400" b="1" dirty="0"/>
              <a:t>15% failure rate</a:t>
            </a:r>
            <a:r>
              <a:rPr lang="en" altLang="zh-CN" sz="2400" dirty="0"/>
              <a:t> causing an estimated </a:t>
            </a:r>
            <a:r>
              <a:rPr lang="en" altLang="zh-CN" sz="2400" b="1" dirty="0"/>
              <a:t>$8M annual loss</a:t>
            </a:r>
            <a:r>
              <a:rPr lang="en" altLang="zh-CN" sz="2400" dirty="0"/>
              <a:t>.</a:t>
            </a:r>
          </a:p>
          <a:p>
            <a:pPr marL="0" lvl="0" indent="0" algn="just">
              <a:lnSpc>
                <a:spcPts val="3151"/>
              </a:lnSpc>
              <a:spcBef>
                <a:spcPct val="0"/>
              </a:spcBef>
            </a:pPr>
            <a:endParaRPr lang="en-US" sz="2251" b="1" dirty="0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87602" y="1857562"/>
            <a:ext cx="15366798" cy="2616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" altLang="zh-CN" sz="2000" b="1" dirty="0"/>
              <a:t>Operational Risk:</a:t>
            </a:r>
            <a:r>
              <a:rPr lang="en" altLang="zh-CN" sz="2000" dirty="0"/>
              <a:t> Current processes are reactive, lacking data-driven foresight, leading to key asset unplanned failure rates of </a:t>
            </a:r>
            <a:r>
              <a:rPr lang="en" altLang="zh-CN" sz="2000" b="1" dirty="0"/>
              <a:t>15%</a:t>
            </a:r>
            <a:r>
              <a:rPr lang="en" altLang="zh-CN" sz="2000" dirty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" altLang="zh-CN" sz="2000" b="1" dirty="0"/>
              <a:t>Financial Impact:</a:t>
            </a:r>
            <a:r>
              <a:rPr lang="en" altLang="zh-CN" sz="2000" dirty="0"/>
              <a:t> Unforeseen critical repairs drive high </a:t>
            </a:r>
            <a:r>
              <a:rPr lang="en" altLang="zh-CN" sz="2000" b="1" dirty="0"/>
              <a:t>non-discretionary costs</a:t>
            </a:r>
            <a:r>
              <a:rPr lang="en" altLang="zh-CN" sz="2000" dirty="0"/>
              <a:t>, estimated at </a:t>
            </a:r>
            <a:r>
              <a:rPr lang="en" altLang="zh-CN" sz="2000" b="1" dirty="0"/>
              <a:t>$8M</a:t>
            </a:r>
            <a:r>
              <a:rPr lang="en" altLang="zh-CN" sz="2000" dirty="0"/>
              <a:t> annually in direct and indirect expenses.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" altLang="zh-CN" sz="2000" b="1" dirty="0"/>
              <a:t>Public Trust &amp; Resilience:</a:t>
            </a:r>
            <a:r>
              <a:rPr lang="en" altLang="zh-CN" sz="2000" dirty="0"/>
              <a:t> High failure rates compromise service reliability, eroding public trust and increasing regulatory scrutiny (L-1 principles).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" altLang="zh-CN" sz="2000" b="1" dirty="0"/>
              <a:t>Strategic Opportunity:</a:t>
            </a:r>
            <a:r>
              <a:rPr lang="en" altLang="zh-CN" sz="2000" dirty="0"/>
              <a:t> T-1 will reduce the failure rate to the international benchmark </a:t>
            </a:r>
            <a:r>
              <a:rPr lang="en" altLang="zh-CN" sz="2000" b="1" dirty="0"/>
              <a:t>(4%)</a:t>
            </a:r>
            <a:r>
              <a:rPr lang="en" altLang="zh-CN" sz="2000" dirty="0"/>
              <a:t> within three years, positioning AT as a technology leader.</a:t>
            </a:r>
          </a:p>
          <a:p>
            <a:pPr algn="l">
              <a:lnSpc>
                <a:spcPts val="8105"/>
              </a:lnSpc>
            </a:pPr>
            <a:endParaRPr lang="en-US" sz="2000" b="1" dirty="0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A59AC5FA-2BFF-C062-0823-B915BB599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121553"/>
              </p:ext>
            </p:extLst>
          </p:nvPr>
        </p:nvGraphicFramePr>
        <p:xfrm>
          <a:off x="6085100" y="4983476"/>
          <a:ext cx="11420269" cy="4299370"/>
        </p:xfrm>
        <a:graphic>
          <a:graphicData uri="http://schemas.openxmlformats.org/drawingml/2006/table">
            <a:tbl>
              <a:tblPr/>
              <a:tblGrid>
                <a:gridCol w="3165747">
                  <a:extLst>
                    <a:ext uri="{9D8B030D-6E8A-4147-A177-3AD203B41FA5}">
                      <a16:colId xmlns:a16="http://schemas.microsoft.com/office/drawing/2014/main" val="2154951639"/>
                    </a:ext>
                  </a:extLst>
                </a:gridCol>
                <a:gridCol w="2544388">
                  <a:extLst>
                    <a:ext uri="{9D8B030D-6E8A-4147-A177-3AD203B41FA5}">
                      <a16:colId xmlns:a16="http://schemas.microsoft.com/office/drawing/2014/main" val="2272916519"/>
                    </a:ext>
                  </a:extLst>
                </a:gridCol>
                <a:gridCol w="3052865">
                  <a:extLst>
                    <a:ext uri="{9D8B030D-6E8A-4147-A177-3AD203B41FA5}">
                      <a16:colId xmlns:a16="http://schemas.microsoft.com/office/drawing/2014/main" val="2383131218"/>
                    </a:ext>
                  </a:extLst>
                </a:gridCol>
                <a:gridCol w="2657269">
                  <a:extLst>
                    <a:ext uri="{9D8B030D-6E8A-4147-A177-3AD203B41FA5}">
                      <a16:colId xmlns:a16="http://schemas.microsoft.com/office/drawing/2014/main" val="2250719790"/>
                    </a:ext>
                  </a:extLst>
                </a:gridCol>
              </a:tblGrid>
              <a:tr h="885165">
                <a:tc>
                  <a:txBody>
                    <a:bodyPr/>
                    <a:lstStyle/>
                    <a:p>
                      <a:pPr algn="l"/>
                      <a:r>
                        <a:rPr lang="en" sz="2400" b="1" dirty="0"/>
                        <a:t>Year</a:t>
                      </a:r>
                      <a:endParaRPr lang="e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2400" b="1" dirty="0"/>
                        <a:t>AT Current State (15%)</a:t>
                      </a:r>
                      <a:endParaRPr lang="e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2400" b="1"/>
                        <a:t>International Benchmark (TfL / LTA)</a:t>
                      </a:r>
                      <a:endParaRPr lang="e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2400" b="1"/>
                        <a:t>T-1 Target (Forecast)</a:t>
                      </a:r>
                      <a:endParaRPr lang="e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0646766"/>
                  </a:ext>
                </a:extLst>
              </a:tr>
              <a:tr h="505808">
                <a:tc>
                  <a:txBody>
                    <a:bodyPr/>
                    <a:lstStyle/>
                    <a:p>
                      <a:r>
                        <a:rPr lang="en" sz="2400" b="1"/>
                        <a:t>0 (Pre-Launch)</a:t>
                      </a:r>
                      <a:endParaRPr lang="e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15.0%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5.0%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15.0%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1077377"/>
                  </a:ext>
                </a:extLst>
              </a:tr>
              <a:tr h="505808">
                <a:tc>
                  <a:txBody>
                    <a:bodyPr/>
                    <a:lstStyle/>
                    <a:p>
                      <a:r>
                        <a:rPr lang="en" sz="2400" b="1"/>
                        <a:t>1 (Foundation Build)</a:t>
                      </a:r>
                      <a:endParaRPr lang="e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14.5%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5.0%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12.0%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3126271"/>
                  </a:ext>
                </a:extLst>
              </a:tr>
              <a:tr h="505808">
                <a:tc>
                  <a:txBody>
                    <a:bodyPr/>
                    <a:lstStyle/>
                    <a:p>
                      <a:r>
                        <a:rPr lang="en" sz="2400" b="1" dirty="0"/>
                        <a:t>2 (Model Validation)</a:t>
                      </a:r>
                      <a:endParaRPr lang="e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10.0%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5.0%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7.0%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9362974"/>
                  </a:ext>
                </a:extLst>
              </a:tr>
              <a:tr h="505808">
                <a:tc>
                  <a:txBody>
                    <a:bodyPr/>
                    <a:lstStyle/>
                    <a:p>
                      <a:r>
                        <a:rPr lang="en" sz="2400" b="1"/>
                        <a:t>3 (PBP Achieved)</a:t>
                      </a:r>
                      <a:endParaRPr lang="e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7.0%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5.0%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4.0%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4451332"/>
                  </a:ext>
                </a:extLst>
              </a:tr>
              <a:tr h="505808">
                <a:tc>
                  <a:txBody>
                    <a:bodyPr/>
                    <a:lstStyle/>
                    <a:p>
                      <a:r>
                        <a:rPr lang="en" sz="2400" b="1"/>
                        <a:t>4 (Scale-Up Efficiency)</a:t>
                      </a:r>
                      <a:endParaRPr lang="e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5.0%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5.0%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3.5%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909811"/>
                  </a:ext>
                </a:extLst>
              </a:tr>
              <a:tr h="885165">
                <a:tc>
                  <a:txBody>
                    <a:bodyPr/>
                    <a:lstStyle/>
                    <a:p>
                      <a:r>
                        <a:rPr lang="en" sz="2400" b="1"/>
                        <a:t>5 (Steady-State Operations)</a:t>
                      </a:r>
                      <a:endParaRPr lang="e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4.0%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/>
                        <a:t>5.0%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3.0%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581122"/>
                  </a:ext>
                </a:extLst>
              </a:tr>
            </a:tbl>
          </a:graphicData>
        </a:graphic>
      </p:graphicFrame>
      <p:sp>
        <p:nvSpPr>
          <p:cNvPr id="19" name="Rectangle 1">
            <a:extLst>
              <a:ext uri="{FF2B5EF4-FFF2-40B4-BE49-F238E27FC236}">
                <a16:creationId xmlns:a16="http://schemas.microsoft.com/office/drawing/2014/main" id="{0716AC80-70A1-8D76-E181-EA98A4500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006337"/>
            <a:ext cx="178593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en" altLang="zh-CN" sz="2400" b="1" dirty="0"/>
              <a:t>Figure A: Operational Efficiency Benchmark:</a:t>
            </a:r>
            <a:r>
              <a:rPr lang="en" altLang="zh-CN" sz="2400" dirty="0"/>
              <a:t> </a:t>
            </a:r>
          </a:p>
          <a:p>
            <a:pPr algn="ctr"/>
            <a:r>
              <a:rPr lang="en" altLang="zh-CN" sz="2400" dirty="0"/>
              <a:t>(Describe the chart showing the gap between AT's 15% status quo vs. the 5.0% international benchmark).</a:t>
            </a:r>
          </a:p>
        </p:txBody>
      </p:sp>
      <p:grpSp>
        <p:nvGrpSpPr>
          <p:cNvPr id="20" name="Group 7">
            <a:extLst>
              <a:ext uri="{FF2B5EF4-FFF2-40B4-BE49-F238E27FC236}">
                <a16:creationId xmlns:a16="http://schemas.microsoft.com/office/drawing/2014/main" id="{9FF5CD95-4CAC-867F-A03E-7249B719FE55}"/>
              </a:ext>
            </a:extLst>
          </p:cNvPr>
          <p:cNvGrpSpPr/>
          <p:nvPr/>
        </p:nvGrpSpPr>
        <p:grpSpPr>
          <a:xfrm rot="-5400000">
            <a:off x="1356252" y="6320780"/>
            <a:ext cx="1949271" cy="4217315"/>
            <a:chOff x="0" y="0"/>
            <a:chExt cx="3942847" cy="8530486"/>
          </a:xfrm>
        </p:grpSpPr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58625931-C949-FB93-657D-82703639959F}"/>
                </a:ext>
              </a:extLst>
            </p:cNvPr>
            <p:cNvSpPr/>
            <p:nvPr/>
          </p:nvSpPr>
          <p:spPr>
            <a:xfrm>
              <a:off x="0" y="0"/>
              <a:ext cx="3942847" cy="8530486"/>
            </a:xfrm>
            <a:custGeom>
              <a:avLst/>
              <a:gdLst/>
              <a:ahLst/>
              <a:cxnLst/>
              <a:rect l="l" t="t" r="r" b="b"/>
              <a:pathLst>
                <a:path w="3942847" h="8530486">
                  <a:moveTo>
                    <a:pt x="0" y="4265243"/>
                  </a:moveTo>
                  <a:lnTo>
                    <a:pt x="0" y="0"/>
                  </a:lnTo>
                  <a:cubicBezTo>
                    <a:pt x="2178111" y="0"/>
                    <a:pt x="3942847" y="1909034"/>
                    <a:pt x="3942847" y="4265243"/>
                  </a:cubicBezTo>
                  <a:cubicBezTo>
                    <a:pt x="3942847" y="6621452"/>
                    <a:pt x="2178111" y="8530486"/>
                    <a:pt x="0" y="8530486"/>
                  </a:cubicBezTo>
                  <a:lnTo>
                    <a:pt x="0" y="4265243"/>
                  </a:lnTo>
                  <a:close/>
                </a:path>
              </a:pathLst>
            </a:custGeom>
            <a:solidFill>
              <a:srgbClr val="0038D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8FB4FF8F-5CB2-18EF-33E0-41F43CC9F948}"/>
              </a:ext>
            </a:extLst>
          </p:cNvPr>
          <p:cNvGrpSpPr/>
          <p:nvPr/>
        </p:nvGrpSpPr>
        <p:grpSpPr>
          <a:xfrm rot="-5400000">
            <a:off x="1356251" y="4678931"/>
            <a:ext cx="1949271" cy="4217315"/>
            <a:chOff x="0" y="0"/>
            <a:chExt cx="3942847" cy="8530486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398957ED-572A-AE71-4DD2-BFEBCA67A3C8}"/>
                </a:ext>
              </a:extLst>
            </p:cNvPr>
            <p:cNvSpPr/>
            <p:nvPr/>
          </p:nvSpPr>
          <p:spPr>
            <a:xfrm>
              <a:off x="0" y="0"/>
              <a:ext cx="3942847" cy="8530486"/>
            </a:xfrm>
            <a:custGeom>
              <a:avLst/>
              <a:gdLst/>
              <a:ahLst/>
              <a:cxnLst/>
              <a:rect l="l" t="t" r="r" b="b"/>
              <a:pathLst>
                <a:path w="3942847" h="8530486">
                  <a:moveTo>
                    <a:pt x="0" y="4265243"/>
                  </a:moveTo>
                  <a:lnTo>
                    <a:pt x="0" y="0"/>
                  </a:lnTo>
                  <a:cubicBezTo>
                    <a:pt x="2178111" y="0"/>
                    <a:pt x="3942847" y="1909034"/>
                    <a:pt x="3942847" y="4265243"/>
                  </a:cubicBezTo>
                  <a:cubicBezTo>
                    <a:pt x="3942847" y="6621452"/>
                    <a:pt x="2178111" y="8530486"/>
                    <a:pt x="0" y="8530486"/>
                  </a:cubicBezTo>
                  <a:lnTo>
                    <a:pt x="0" y="4265243"/>
                  </a:lnTo>
                  <a:close/>
                </a:path>
              </a:pathLst>
            </a:custGeom>
            <a:solidFill>
              <a:srgbClr val="0038D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18">
            <a:extLst>
              <a:ext uri="{FF2B5EF4-FFF2-40B4-BE49-F238E27FC236}">
                <a16:creationId xmlns:a16="http://schemas.microsoft.com/office/drawing/2014/main" id="{448B3010-25D6-C4A5-F833-CE04C5943506}"/>
              </a:ext>
            </a:extLst>
          </p:cNvPr>
          <p:cNvSpPr txBox="1"/>
          <p:nvPr/>
        </p:nvSpPr>
        <p:spPr>
          <a:xfrm>
            <a:off x="13929875" y="9556843"/>
            <a:ext cx="3117321" cy="43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zh-CN" sz="25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2</a:t>
            </a:r>
            <a:endParaRPr lang="en-US" sz="2599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723103"/>
            <a:ext cx="243939" cy="24393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D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3436108" y="4391912"/>
            <a:ext cx="3234595" cy="6469190"/>
            <a:chOff x="0" y="0"/>
            <a:chExt cx="3331210" cy="66624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31210" cy="6662420"/>
            </a:xfrm>
            <a:custGeom>
              <a:avLst/>
              <a:gdLst/>
              <a:ahLst/>
              <a:cxnLst/>
              <a:rect l="l" t="t" r="r" b="b"/>
              <a:pathLst>
                <a:path w="3331210" h="666242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blipFill>
              <a:blip r:embed="rId2"/>
              <a:stretch>
                <a:fillRect l="-121673" r="-121673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-5400000">
            <a:off x="2495700" y="7995487"/>
            <a:ext cx="1949271" cy="4217315"/>
            <a:chOff x="0" y="0"/>
            <a:chExt cx="3942848" cy="85304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942847" cy="8530486"/>
            </a:xfrm>
            <a:custGeom>
              <a:avLst/>
              <a:gdLst/>
              <a:ahLst/>
              <a:cxnLst/>
              <a:rect l="l" t="t" r="r" b="b"/>
              <a:pathLst>
                <a:path w="3942847" h="8530486">
                  <a:moveTo>
                    <a:pt x="0" y="4265243"/>
                  </a:moveTo>
                  <a:lnTo>
                    <a:pt x="0" y="0"/>
                  </a:lnTo>
                  <a:cubicBezTo>
                    <a:pt x="2178111" y="0"/>
                    <a:pt x="3942847" y="1909034"/>
                    <a:pt x="3942847" y="4265243"/>
                  </a:cubicBezTo>
                  <a:cubicBezTo>
                    <a:pt x="3942847" y="6621452"/>
                    <a:pt x="2178111" y="8530486"/>
                    <a:pt x="0" y="8530486"/>
                  </a:cubicBezTo>
                  <a:lnTo>
                    <a:pt x="0" y="4265243"/>
                  </a:lnTo>
                  <a:close/>
                </a:path>
              </a:pathLst>
            </a:custGeom>
            <a:solidFill>
              <a:srgbClr val="0038D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2574301" y="6077905"/>
            <a:ext cx="1949271" cy="4217315"/>
            <a:chOff x="0" y="0"/>
            <a:chExt cx="3942848" cy="85304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42847" cy="8530486"/>
            </a:xfrm>
            <a:custGeom>
              <a:avLst/>
              <a:gdLst/>
              <a:ahLst/>
              <a:cxnLst/>
              <a:rect l="l" t="t" r="r" b="b"/>
              <a:pathLst>
                <a:path w="3942847" h="8530486">
                  <a:moveTo>
                    <a:pt x="0" y="4265243"/>
                  </a:moveTo>
                  <a:lnTo>
                    <a:pt x="0" y="0"/>
                  </a:lnTo>
                  <a:cubicBezTo>
                    <a:pt x="2178111" y="0"/>
                    <a:pt x="3942847" y="1909034"/>
                    <a:pt x="3942847" y="4265243"/>
                  </a:cubicBezTo>
                  <a:cubicBezTo>
                    <a:pt x="3942847" y="6621452"/>
                    <a:pt x="2178111" y="8530486"/>
                    <a:pt x="0" y="8530486"/>
                  </a:cubicBezTo>
                  <a:lnTo>
                    <a:pt x="0" y="4265243"/>
                  </a:lnTo>
                  <a:close/>
                </a:path>
              </a:pathLst>
            </a:custGeom>
            <a:solidFill>
              <a:srgbClr val="0038D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AutoShape 11"/>
          <p:cNvSpPr/>
          <p:nvPr/>
        </p:nvSpPr>
        <p:spPr>
          <a:xfrm>
            <a:off x="7583244" y="9248775"/>
            <a:ext cx="1712713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17824356" y="1459779"/>
            <a:ext cx="3538728" cy="4114800"/>
          </a:xfrm>
          <a:custGeom>
            <a:avLst/>
            <a:gdLst/>
            <a:ahLst/>
            <a:cxnLst/>
            <a:rect l="l" t="t" r="r" b="b"/>
            <a:pathLst>
              <a:path w="3538728" h="4114800">
                <a:moveTo>
                  <a:pt x="0" y="0"/>
                </a:moveTo>
                <a:lnTo>
                  <a:pt x="3538728" y="0"/>
                </a:lnTo>
                <a:lnTo>
                  <a:pt x="35387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61678" y="619159"/>
            <a:ext cx="16926322" cy="389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151"/>
              </a:lnSpc>
              <a:spcBef>
                <a:spcPct val="0"/>
              </a:spcBef>
            </a:pPr>
            <a:r>
              <a:rPr lang="en" altLang="zh-CN" sz="2400" dirty="0"/>
              <a:t>The solution is deployed in three agile phases, prioritizing </a:t>
            </a:r>
            <a:r>
              <a:rPr lang="en" altLang="zh-CN" sz="2400" b="1" dirty="0"/>
              <a:t>data governance</a:t>
            </a:r>
            <a:r>
              <a:rPr lang="en" altLang="zh-CN" sz="2400" dirty="0"/>
              <a:t> to ensure the accuracy of the AI model's foundational data.</a:t>
            </a:r>
            <a:endParaRPr lang="en-US" sz="2251" b="1" dirty="0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84144" y="1637675"/>
            <a:ext cx="14465456" cy="59078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" altLang="zh-CN" sz="2800" b="1" dirty="0"/>
              <a:t>Phase 1: Foundation &amp; Data Governance (0-12M):</a:t>
            </a:r>
            <a:endParaRPr lang="en" altLang="zh-CN" sz="28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zh-CN" altLang="en-US" sz="2400" b="1" dirty="0"/>
              <a:t> </a:t>
            </a:r>
            <a:r>
              <a:rPr lang="en" altLang="zh-CN" sz="2400" b="1" dirty="0"/>
              <a:t>Focus:</a:t>
            </a:r>
            <a:r>
              <a:rPr lang="en" altLang="zh-CN" sz="2400" dirty="0"/>
              <a:t> </a:t>
            </a:r>
            <a:r>
              <a:rPr lang="en" altLang="zh-CN" sz="2400" b="1" dirty="0"/>
              <a:t>MECE</a:t>
            </a:r>
            <a:r>
              <a:rPr lang="en" altLang="zh-CN" sz="2400" dirty="0"/>
              <a:t>-structured data cleansing and standardization of historical maintenance records.</a:t>
            </a:r>
          </a:p>
          <a:p>
            <a:pPr marL="342900" indent="-34290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l"/>
            </a:pPr>
            <a:r>
              <a:rPr lang="zh-CN" altLang="en-US" sz="2400" b="1" dirty="0"/>
              <a:t> </a:t>
            </a:r>
            <a:r>
              <a:rPr lang="en" altLang="zh-CN" sz="2400" b="1" dirty="0"/>
              <a:t>Output:</a:t>
            </a:r>
            <a:r>
              <a:rPr lang="en" altLang="zh-CN" sz="2400" dirty="0"/>
              <a:t> </a:t>
            </a:r>
            <a:r>
              <a:rPr lang="en" altLang="zh-CN" sz="2400" b="1" dirty="0"/>
              <a:t>L-1 data transparency</a:t>
            </a:r>
            <a:r>
              <a:rPr lang="en" altLang="zh-CN" sz="2400" dirty="0"/>
              <a:t> protocol established; 50% sensor pilot deployment complete.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" altLang="zh-CN" sz="2800" b="1" dirty="0"/>
              <a:t>Phase 2: Model Validation &amp; Process Re-engineering (13-24M):</a:t>
            </a:r>
            <a:endParaRPr lang="en" altLang="zh-CN" sz="28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zh-CN" altLang="en-US" sz="2400" b="1" dirty="0"/>
              <a:t> </a:t>
            </a:r>
            <a:r>
              <a:rPr lang="en" altLang="zh-CN" sz="2400" b="1" dirty="0"/>
              <a:t>Focus:</a:t>
            </a:r>
            <a:r>
              <a:rPr lang="en" altLang="zh-CN" sz="2400" dirty="0"/>
              <a:t> Achieve </a:t>
            </a:r>
            <a:r>
              <a:rPr lang="en" altLang="zh-CN" sz="2400" b="1" dirty="0"/>
              <a:t>AI model accuracy &gt; 85%</a:t>
            </a:r>
            <a:r>
              <a:rPr lang="en" altLang="zh-CN" sz="2400" dirty="0"/>
              <a:t>; conduct process re-engineering for Alert-to-Action SOPs.</a:t>
            </a:r>
          </a:p>
          <a:p>
            <a:pPr marL="342900" indent="-34290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l"/>
            </a:pPr>
            <a:r>
              <a:rPr lang="zh-CN" altLang="en-US" sz="2400" b="1" dirty="0"/>
              <a:t> </a:t>
            </a:r>
            <a:r>
              <a:rPr lang="en" altLang="zh-CN" sz="2400" b="1" dirty="0"/>
              <a:t>Output:</a:t>
            </a:r>
            <a:r>
              <a:rPr lang="en" altLang="zh-CN" sz="2400" dirty="0"/>
              <a:t> First wave of critical asset failures reduced; training modules deployed.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" altLang="zh-CN" sz="2800" b="1" dirty="0"/>
              <a:t>Phase 3: Scale &amp; Value Maximization (25-36M):</a:t>
            </a:r>
            <a:endParaRPr lang="en" altLang="zh-CN" sz="28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zh-CN" altLang="en-US" sz="2400" b="1" dirty="0"/>
              <a:t> </a:t>
            </a:r>
            <a:r>
              <a:rPr lang="en" altLang="zh-CN" sz="2400" b="1" dirty="0"/>
              <a:t>Focus:</a:t>
            </a:r>
            <a:r>
              <a:rPr lang="en" altLang="zh-CN" sz="2400" dirty="0"/>
              <a:t> Full system integration and organization-wide rollout (80% of core assets).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zh-CN" altLang="en-US" sz="2400" b="1" dirty="0"/>
              <a:t> </a:t>
            </a:r>
            <a:r>
              <a:rPr lang="en" altLang="zh-CN" sz="2400" b="1" dirty="0"/>
              <a:t>Output:</a:t>
            </a:r>
            <a:r>
              <a:rPr lang="en" altLang="zh-CN" sz="2400" dirty="0"/>
              <a:t> PBP achieved </a:t>
            </a:r>
            <a:r>
              <a:rPr lang="en" altLang="zh-CN" sz="2400" b="1" dirty="0"/>
              <a:t>(1.7 years)</a:t>
            </a:r>
            <a:r>
              <a:rPr lang="en" altLang="zh-CN" sz="2400" dirty="0"/>
              <a:t>; full realization of operational efficiency gains.</a:t>
            </a:r>
          </a:p>
          <a:p>
            <a:pPr algn="l">
              <a:lnSpc>
                <a:spcPts val="8105"/>
              </a:lnSpc>
              <a:spcBef>
                <a:spcPts val="600"/>
              </a:spcBef>
              <a:spcAft>
                <a:spcPts val="600"/>
              </a:spcAft>
            </a:pPr>
            <a:endParaRPr lang="en-US" sz="2400" b="1" dirty="0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14" name="TextBox 18">
            <a:extLst>
              <a:ext uri="{FF2B5EF4-FFF2-40B4-BE49-F238E27FC236}">
                <a16:creationId xmlns:a16="http://schemas.microsoft.com/office/drawing/2014/main" id="{050DBD0D-B177-3577-4819-BDDAB1C01B0D}"/>
              </a:ext>
            </a:extLst>
          </p:cNvPr>
          <p:cNvSpPr txBox="1"/>
          <p:nvPr/>
        </p:nvSpPr>
        <p:spPr>
          <a:xfrm>
            <a:off x="14588152" y="9461292"/>
            <a:ext cx="3117321" cy="43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zh-CN" sz="25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3</a:t>
            </a:r>
            <a:endParaRPr lang="en-US" sz="2599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723103"/>
            <a:ext cx="243939" cy="24393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D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6805281" y="-1598773"/>
            <a:ext cx="2965436" cy="5930871"/>
            <a:chOff x="0" y="0"/>
            <a:chExt cx="3331210" cy="66624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31210" cy="6662420"/>
            </a:xfrm>
            <a:custGeom>
              <a:avLst/>
              <a:gdLst/>
              <a:ahLst/>
              <a:cxnLst/>
              <a:rect l="l" t="t" r="r" b="b"/>
              <a:pathLst>
                <a:path w="3331210" h="666242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solidFill>
              <a:srgbClr val="0038D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9" name="AutoShape 9"/>
          <p:cNvSpPr/>
          <p:nvPr/>
        </p:nvSpPr>
        <p:spPr>
          <a:xfrm>
            <a:off x="7777022" y="9791700"/>
            <a:ext cx="1712713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361678" y="619159"/>
            <a:ext cx="15897622" cy="389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151"/>
              </a:lnSpc>
              <a:spcBef>
                <a:spcPct val="0"/>
              </a:spcBef>
            </a:pPr>
            <a:r>
              <a:rPr lang="en" altLang="zh-CN" sz="2400" dirty="0"/>
              <a:t>The T-1 program demonstrates strong financial attractiveness, with the total investment recovered in just </a:t>
            </a:r>
            <a:r>
              <a:rPr lang="en" altLang="zh-CN" sz="2400" b="1" dirty="0"/>
              <a:t>1.7 years</a:t>
            </a:r>
            <a:r>
              <a:rPr lang="en" altLang="zh-CN" sz="2400" dirty="0"/>
              <a:t>.</a:t>
            </a:r>
            <a:endParaRPr lang="en-US" sz="2251" b="1" dirty="0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698373" y="2094762"/>
            <a:ext cx="6442718" cy="1093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39"/>
              </a:lnSpc>
              <a:spcBef>
                <a:spcPct val="0"/>
              </a:spcBef>
            </a:pPr>
            <a:r>
              <a:rPr lang="en" altLang="zh-CN" sz="2400" b="1" dirty="0"/>
              <a:t>Budget Allocation ($12M)</a:t>
            </a:r>
            <a:br>
              <a:rPr lang="en" altLang="zh-CN" sz="2400" dirty="0"/>
            </a:br>
            <a:r>
              <a:rPr lang="en" altLang="zh-CN" sz="2400" i="1" dirty="0"/>
              <a:t>Technology &amp; Data Investment = 83% (Core Focus)</a:t>
            </a:r>
            <a:endParaRPr lang="en" altLang="zh-CN" sz="2400" dirty="0"/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F45F4D5A-1856-DC55-9F4C-95047CA95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8903" y="4400377"/>
            <a:ext cx="10287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" altLang="zh-CN" sz="2400" b="1" dirty="0"/>
              <a:t>Figure B: Cumulative Net Cash Flow (CNCF) Curve:</a:t>
            </a:r>
            <a:r>
              <a:rPr lang="en" altLang="zh-CN" sz="2400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" altLang="zh-CN" sz="2400" dirty="0"/>
              <a:t>(Describe the line chart where the CNCF curve intersects the X-axis at </a:t>
            </a:r>
            <a:r>
              <a:rPr lang="en" altLang="zh-CN" sz="2400" b="1" dirty="0"/>
              <a:t>1.7 years</a:t>
            </a:r>
            <a:r>
              <a:rPr lang="en" altLang="zh-CN" sz="2400" dirty="0"/>
              <a:t>).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5" name="图表 24">
            <a:extLst>
              <a:ext uri="{FF2B5EF4-FFF2-40B4-BE49-F238E27FC236}">
                <a16:creationId xmlns:a16="http://schemas.microsoft.com/office/drawing/2014/main" id="{51DDCC2F-6C98-C601-D71B-7DE441105F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1259554"/>
              </p:ext>
            </p:extLst>
          </p:nvPr>
        </p:nvGraphicFramePr>
        <p:xfrm>
          <a:off x="381000" y="3228350"/>
          <a:ext cx="7467600" cy="6400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4D32C1D4-38BC-C53D-9F5B-48C1A34454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8471994"/>
              </p:ext>
            </p:extLst>
          </p:nvPr>
        </p:nvGraphicFramePr>
        <p:xfrm>
          <a:off x="8420100" y="5002490"/>
          <a:ext cx="9067800" cy="4236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C7F0E931-7E20-4AD2-0C13-52F0B72861FE}"/>
              </a:ext>
            </a:extLst>
          </p:cNvPr>
          <p:cNvSpPr txBox="1"/>
          <p:nvPr/>
        </p:nvSpPr>
        <p:spPr>
          <a:xfrm>
            <a:off x="7791931" y="9326528"/>
            <a:ext cx="10532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The rapid PBP minimizes exposure to long-term risk and immediately frees up cash flow for further innovation.</a:t>
            </a:r>
            <a:endParaRPr kumimoji="1" lang="zh-CN" altLang="en-US" dirty="0"/>
          </a:p>
        </p:txBody>
      </p:sp>
      <p:sp>
        <p:nvSpPr>
          <p:cNvPr id="10" name="TextBox 18">
            <a:extLst>
              <a:ext uri="{FF2B5EF4-FFF2-40B4-BE49-F238E27FC236}">
                <a16:creationId xmlns:a16="http://schemas.microsoft.com/office/drawing/2014/main" id="{04C8C84D-CEF8-1AF6-2A19-D19CA4E3C604}"/>
              </a:ext>
            </a:extLst>
          </p:cNvPr>
          <p:cNvSpPr txBox="1"/>
          <p:nvPr/>
        </p:nvSpPr>
        <p:spPr>
          <a:xfrm>
            <a:off x="14781930" y="9791700"/>
            <a:ext cx="3117321" cy="43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zh-CN" sz="25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4</a:t>
            </a:r>
            <a:endParaRPr lang="en-US" sz="2599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723103"/>
            <a:ext cx="243939" cy="24393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D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61678" y="619159"/>
            <a:ext cx="16926322" cy="375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151"/>
              </a:lnSpc>
              <a:spcBef>
                <a:spcPct val="0"/>
              </a:spcBef>
            </a:pPr>
            <a:r>
              <a:rPr lang="en" altLang="zh-CN" sz="2000" dirty="0"/>
              <a:t>The project’s substantial 10-year NPV demonstrates significant financial resilience, maintaining positive value across all reasonable scenarios.</a:t>
            </a:r>
            <a:endParaRPr lang="en-US" sz="2000" b="1" dirty="0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4064" y="1440894"/>
            <a:ext cx="8755331" cy="19812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Aft>
                <a:spcPts val="1200"/>
              </a:spcAft>
              <a:buFont typeface="Wingdings" pitchFamily="2" charset="2"/>
              <a:buChar char="l"/>
            </a:pPr>
            <a:r>
              <a:rPr lang="en" altLang="zh-CN" sz="2400" b="1" dirty="0"/>
              <a:t>Long-Term Value:</a:t>
            </a:r>
            <a:r>
              <a:rPr lang="en" altLang="zh-CN" sz="2400" dirty="0"/>
              <a:t> The project delivers a </a:t>
            </a:r>
            <a:r>
              <a:rPr lang="en" altLang="zh-CN" sz="2400" b="1" dirty="0"/>
              <a:t>$75 M</a:t>
            </a:r>
            <a:r>
              <a:rPr lang="en" altLang="zh-CN" sz="2400" dirty="0"/>
              <a:t> Net Present Value (NPV) over 10 years (at a 6% discount rate).</a:t>
            </a:r>
          </a:p>
          <a:p>
            <a:pPr marL="342900" indent="-342900">
              <a:buFont typeface="Wingdings" pitchFamily="2" charset="2"/>
              <a:buChar char="l"/>
            </a:pPr>
            <a:r>
              <a:rPr lang="en" altLang="zh-CN" sz="2400" b="1" dirty="0"/>
              <a:t>Financial Resilience:</a:t>
            </a:r>
            <a:r>
              <a:rPr lang="en" altLang="zh-CN" sz="2400" dirty="0"/>
              <a:t> The </a:t>
            </a:r>
            <a:r>
              <a:rPr lang="en" altLang="zh-CN" sz="2400" b="1" dirty="0"/>
              <a:t>Base Case</a:t>
            </a:r>
            <a:r>
              <a:rPr lang="en" altLang="zh-CN" sz="2400" dirty="0"/>
              <a:t> assumes a 75% reduction in unplanned failures, driving the $75 M NPV.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744366" y="4106024"/>
            <a:ext cx="5370326" cy="844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endParaRPr lang="zh-CN" altLang="en" sz="2400" dirty="0"/>
          </a:p>
          <a:p>
            <a:pPr algn="just">
              <a:lnSpc>
                <a:spcPts val="3359"/>
              </a:lnSpc>
              <a:spcBef>
                <a:spcPct val="0"/>
              </a:spcBef>
            </a:pPr>
            <a:endParaRPr lang="en-US" sz="2399" b="1" dirty="0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grpSp>
        <p:nvGrpSpPr>
          <p:cNvPr id="19" name="Group 19"/>
          <p:cNvGrpSpPr/>
          <p:nvPr/>
        </p:nvGrpSpPr>
        <p:grpSpPr>
          <a:xfrm rot="-5400000">
            <a:off x="1506043" y="5768872"/>
            <a:ext cx="3012085" cy="6024170"/>
            <a:chOff x="0" y="0"/>
            <a:chExt cx="3331210" cy="66624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331210" cy="6662420"/>
            </a:xfrm>
            <a:custGeom>
              <a:avLst/>
              <a:gdLst/>
              <a:ahLst/>
              <a:cxnLst/>
              <a:rect l="l" t="t" r="r" b="b"/>
              <a:pathLst>
                <a:path w="3331210" h="666242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solidFill>
              <a:srgbClr val="F8F8F8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 rot="-5400000">
            <a:off x="1506042" y="5611675"/>
            <a:ext cx="3012085" cy="6024170"/>
            <a:chOff x="0" y="0"/>
            <a:chExt cx="3331210" cy="66624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331210" cy="6662420"/>
            </a:xfrm>
            <a:custGeom>
              <a:avLst/>
              <a:gdLst/>
              <a:ahLst/>
              <a:cxnLst/>
              <a:rect l="l" t="t" r="r" b="b"/>
              <a:pathLst>
                <a:path w="3331210" h="666242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solidFill>
              <a:srgbClr val="0038D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3" name="Freeform 23"/>
          <p:cNvSpPr/>
          <p:nvPr/>
        </p:nvSpPr>
        <p:spPr>
          <a:xfrm>
            <a:off x="15163800" y="944173"/>
            <a:ext cx="1615689" cy="1001727"/>
          </a:xfrm>
          <a:custGeom>
            <a:avLst/>
            <a:gdLst/>
            <a:ahLst/>
            <a:cxnLst/>
            <a:rect l="l" t="t" r="r" b="b"/>
            <a:pathLst>
              <a:path w="1615689" h="1001727">
                <a:moveTo>
                  <a:pt x="0" y="0"/>
                </a:moveTo>
                <a:lnTo>
                  <a:pt x="1615689" y="0"/>
                </a:lnTo>
                <a:lnTo>
                  <a:pt x="1615689" y="1001727"/>
                </a:lnTo>
                <a:lnTo>
                  <a:pt x="0" y="1001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AB83B30B-EB3F-40AB-5B20-846AB49AB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500" y="3099046"/>
            <a:ext cx="110495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" altLang="zh-CN" sz="2400" b="1" dirty="0"/>
              <a:t>Figure C: NPV Sensitivity Analysis (Three Scenarios):</a:t>
            </a:r>
            <a:r>
              <a:rPr lang="en" altLang="zh-CN" sz="2400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" altLang="zh-CN" sz="2400" dirty="0"/>
              <a:t>(Describe the column/bar chart showing the comparison between the three scenarios).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CF3A5F37-9C1C-8655-1144-5287D7BBE3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823410"/>
              </p:ext>
            </p:extLst>
          </p:nvPr>
        </p:nvGraphicFramePr>
        <p:xfrm>
          <a:off x="8915327" y="3939197"/>
          <a:ext cx="8255786" cy="59774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64925792-5DEF-6CCB-71E3-7E3601C1D9D0}"/>
              </a:ext>
            </a:extLst>
          </p:cNvPr>
          <p:cNvSpPr txBox="1"/>
          <p:nvPr/>
        </p:nvSpPr>
        <p:spPr>
          <a:xfrm>
            <a:off x="587058" y="4775398"/>
            <a:ext cx="9237781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2000" b="1" dirty="0"/>
              <a:t>Worst Case ($58 M NPV):</a:t>
            </a:r>
            <a:r>
              <a:rPr lang="en" altLang="zh-CN" sz="2000" dirty="0"/>
              <a:t> Even if savings fall to the minimum </a:t>
            </a:r>
            <a:r>
              <a:rPr lang="en" altLang="zh-CN" sz="2000" b="1" dirty="0"/>
              <a:t>($6 M NCF)</a:t>
            </a:r>
            <a:r>
              <a:rPr lang="en" altLang="zh-CN" sz="2000" dirty="0"/>
              <a:t>, </a:t>
            </a:r>
          </a:p>
          <a:p>
            <a:pPr>
              <a:spcAft>
                <a:spcPts val="1200"/>
              </a:spcAft>
            </a:pPr>
            <a:r>
              <a:rPr lang="en" altLang="zh-CN" sz="2000" dirty="0"/>
              <a:t>the NPV remains a highly favorable </a:t>
            </a:r>
            <a:r>
              <a:rPr lang="en" altLang="zh-CN" sz="2000" b="1" dirty="0"/>
              <a:t>$58 M</a:t>
            </a:r>
            <a:r>
              <a:rPr lang="en" altLang="zh-CN" sz="2000" dirty="0"/>
              <a:t>, mitigating downside risk.</a:t>
            </a:r>
          </a:p>
          <a:p>
            <a:r>
              <a:rPr lang="en" altLang="zh-CN" sz="2000" b="1" dirty="0"/>
              <a:t>Upside Potential:</a:t>
            </a:r>
            <a:r>
              <a:rPr lang="en" altLang="zh-CN" sz="2000" dirty="0"/>
              <a:t> Under the </a:t>
            </a:r>
            <a:r>
              <a:rPr lang="en" altLang="zh-CN" sz="2000" b="1" dirty="0"/>
              <a:t>Optimistic Scenario</a:t>
            </a:r>
            <a:r>
              <a:rPr lang="en" altLang="zh-CN" sz="2000" dirty="0"/>
              <a:t> (NCF $10 M), </a:t>
            </a:r>
          </a:p>
          <a:p>
            <a:r>
              <a:rPr lang="en" altLang="zh-CN" sz="2000" dirty="0"/>
              <a:t>the NPV surges to </a:t>
            </a:r>
            <a:r>
              <a:rPr lang="en" altLang="zh-CN" sz="2000" b="1" dirty="0"/>
              <a:t>$114 M</a:t>
            </a:r>
            <a:r>
              <a:rPr lang="en" altLang="zh-CN" sz="2000" dirty="0"/>
              <a:t>.</a:t>
            </a:r>
          </a:p>
          <a:p>
            <a:endParaRPr kumimoji="1" lang="zh-CN" altLang="en-US" sz="2400" dirty="0"/>
          </a:p>
        </p:txBody>
      </p:sp>
      <p:sp>
        <p:nvSpPr>
          <p:cNvPr id="8" name="文档 7">
            <a:extLst>
              <a:ext uri="{FF2B5EF4-FFF2-40B4-BE49-F238E27FC236}">
                <a16:creationId xmlns:a16="http://schemas.microsoft.com/office/drawing/2014/main" id="{E221DFAD-3D8B-AFD0-8EBF-0E4E47BE2F6F}"/>
              </a:ext>
            </a:extLst>
          </p:cNvPr>
          <p:cNvSpPr/>
          <p:nvPr/>
        </p:nvSpPr>
        <p:spPr>
          <a:xfrm>
            <a:off x="146858" y="4599591"/>
            <a:ext cx="8755331" cy="2084022"/>
          </a:xfrm>
          <a:prstGeom prst="flowChartDocument">
            <a:avLst/>
          </a:prstGeom>
          <a:noFill/>
          <a:ln>
            <a:solidFill>
              <a:srgbClr val="0118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AFBBDB6E-35BB-4E3C-FA98-4A29FE3CFA21}"/>
              </a:ext>
            </a:extLst>
          </p:cNvPr>
          <p:cNvSpPr txBox="1"/>
          <p:nvPr/>
        </p:nvSpPr>
        <p:spPr>
          <a:xfrm>
            <a:off x="14596339" y="9699458"/>
            <a:ext cx="3117321" cy="43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zh-CN" sz="25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5</a:t>
            </a:r>
            <a:endParaRPr lang="en-US" sz="2599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723103"/>
            <a:ext cx="243939" cy="24393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D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61678" y="619159"/>
            <a:ext cx="16055978" cy="794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151"/>
              </a:lnSpc>
              <a:spcBef>
                <a:spcPct val="0"/>
              </a:spcBef>
            </a:pPr>
            <a:r>
              <a:rPr lang="en" altLang="zh-CN" sz="2400" dirty="0"/>
              <a:t>Project success is secured by robust cross-functional governance and the leadership of a </a:t>
            </a:r>
            <a:r>
              <a:rPr lang="en" altLang="zh-CN" sz="2400" b="1" dirty="0"/>
              <a:t>Business Integrator</a:t>
            </a:r>
            <a:r>
              <a:rPr lang="en" altLang="zh-CN" sz="2400" dirty="0"/>
              <a:t> who translates AI output into actionable operations.</a:t>
            </a:r>
            <a:endParaRPr lang="en-US" sz="2251" b="1" dirty="0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53873" y="3310445"/>
            <a:ext cx="4421246" cy="350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Operations &amp; Maintenance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71281" y="1814436"/>
            <a:ext cx="4720660" cy="408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COO - Executive Sponsor</a:t>
            </a:r>
          </a:p>
        </p:txBody>
      </p:sp>
      <p:sp>
        <p:nvSpPr>
          <p:cNvPr id="23" name="AutoShape 23"/>
          <p:cNvSpPr/>
          <p:nvPr/>
        </p:nvSpPr>
        <p:spPr>
          <a:xfrm>
            <a:off x="290518" y="9334500"/>
            <a:ext cx="1712713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Freeform 27"/>
          <p:cNvSpPr/>
          <p:nvPr/>
        </p:nvSpPr>
        <p:spPr>
          <a:xfrm>
            <a:off x="544398" y="7959108"/>
            <a:ext cx="817280" cy="817280"/>
          </a:xfrm>
          <a:custGeom>
            <a:avLst/>
            <a:gdLst/>
            <a:ahLst/>
            <a:cxnLst/>
            <a:rect l="l" t="t" r="r" b="b"/>
            <a:pathLst>
              <a:path w="817280" h="817280">
                <a:moveTo>
                  <a:pt x="0" y="0"/>
                </a:moveTo>
                <a:lnTo>
                  <a:pt x="817280" y="0"/>
                </a:lnTo>
                <a:lnTo>
                  <a:pt x="817280" y="817280"/>
                </a:lnTo>
                <a:lnTo>
                  <a:pt x="0" y="817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A02D1128-50AF-0DA4-91A5-E45291C0DCC8}"/>
              </a:ext>
            </a:extLst>
          </p:cNvPr>
          <p:cNvSpPr txBox="1"/>
          <p:nvPr/>
        </p:nvSpPr>
        <p:spPr>
          <a:xfrm>
            <a:off x="4420113" y="3285423"/>
            <a:ext cx="4421246" cy="350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IT / Data Science</a:t>
            </a:r>
          </a:p>
        </p:txBody>
      </p:sp>
      <p:sp>
        <p:nvSpPr>
          <p:cNvPr id="32" name="TextBox 17">
            <a:extLst>
              <a:ext uri="{FF2B5EF4-FFF2-40B4-BE49-F238E27FC236}">
                <a16:creationId xmlns:a16="http://schemas.microsoft.com/office/drawing/2014/main" id="{5B2FA6FA-AD33-3801-E1A5-5CD7B0E5C385}"/>
              </a:ext>
            </a:extLst>
          </p:cNvPr>
          <p:cNvSpPr txBox="1"/>
          <p:nvPr/>
        </p:nvSpPr>
        <p:spPr>
          <a:xfrm>
            <a:off x="7533114" y="3297934"/>
            <a:ext cx="4421246" cy="350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Finance &amp; Legal</a:t>
            </a:r>
          </a:p>
        </p:txBody>
      </p:sp>
      <p:sp>
        <p:nvSpPr>
          <p:cNvPr id="33" name="TextBox 17">
            <a:extLst>
              <a:ext uri="{FF2B5EF4-FFF2-40B4-BE49-F238E27FC236}">
                <a16:creationId xmlns:a16="http://schemas.microsoft.com/office/drawing/2014/main" id="{EA092BB4-3DE2-0241-8D00-95D39DBE7CD2}"/>
              </a:ext>
            </a:extLst>
          </p:cNvPr>
          <p:cNvSpPr txBox="1"/>
          <p:nvPr/>
        </p:nvSpPr>
        <p:spPr>
          <a:xfrm>
            <a:off x="1516118" y="4167260"/>
            <a:ext cx="1483324" cy="350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Execution</a:t>
            </a:r>
          </a:p>
        </p:txBody>
      </p:sp>
      <p:sp>
        <p:nvSpPr>
          <p:cNvPr id="34" name="TextBox 17">
            <a:extLst>
              <a:ext uri="{FF2B5EF4-FFF2-40B4-BE49-F238E27FC236}">
                <a16:creationId xmlns:a16="http://schemas.microsoft.com/office/drawing/2014/main" id="{08487B34-A765-305E-A603-38FBE830DF06}"/>
              </a:ext>
            </a:extLst>
          </p:cNvPr>
          <p:cNvSpPr txBox="1"/>
          <p:nvPr/>
        </p:nvSpPr>
        <p:spPr>
          <a:xfrm>
            <a:off x="4775119" y="4151012"/>
            <a:ext cx="1483324" cy="350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Analytics</a:t>
            </a:r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D7480D74-6B04-6EDF-53E4-C070535835F4}"/>
              </a:ext>
            </a:extLst>
          </p:cNvPr>
          <p:cNvSpPr txBox="1"/>
          <p:nvPr/>
        </p:nvSpPr>
        <p:spPr>
          <a:xfrm>
            <a:off x="7938981" y="4204159"/>
            <a:ext cx="1804756" cy="34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Compliance</a:t>
            </a:r>
          </a:p>
        </p:txBody>
      </p:sp>
      <p:sp>
        <p:nvSpPr>
          <p:cNvPr id="42" name="下箭头 41">
            <a:extLst>
              <a:ext uri="{FF2B5EF4-FFF2-40B4-BE49-F238E27FC236}">
                <a16:creationId xmlns:a16="http://schemas.microsoft.com/office/drawing/2014/main" id="{885AC50B-1951-59F7-8E6B-C5A70BAADA87}"/>
              </a:ext>
            </a:extLst>
          </p:cNvPr>
          <p:cNvSpPr/>
          <p:nvPr/>
        </p:nvSpPr>
        <p:spPr>
          <a:xfrm>
            <a:off x="1971810" y="3713667"/>
            <a:ext cx="238522" cy="3108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下箭头 42">
            <a:extLst>
              <a:ext uri="{FF2B5EF4-FFF2-40B4-BE49-F238E27FC236}">
                <a16:creationId xmlns:a16="http://schemas.microsoft.com/office/drawing/2014/main" id="{24DE1055-79F1-66BF-E0AF-CD447B282C35}"/>
              </a:ext>
            </a:extLst>
          </p:cNvPr>
          <p:cNvSpPr/>
          <p:nvPr/>
        </p:nvSpPr>
        <p:spPr>
          <a:xfrm>
            <a:off x="5288719" y="3720736"/>
            <a:ext cx="238522" cy="3108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下箭头 43">
            <a:extLst>
              <a:ext uri="{FF2B5EF4-FFF2-40B4-BE49-F238E27FC236}">
                <a16:creationId xmlns:a16="http://schemas.microsoft.com/office/drawing/2014/main" id="{94F1C6CC-72B7-3210-7E0C-2C47C38A338D}"/>
              </a:ext>
            </a:extLst>
          </p:cNvPr>
          <p:cNvSpPr/>
          <p:nvPr/>
        </p:nvSpPr>
        <p:spPr>
          <a:xfrm>
            <a:off x="8551446" y="3791879"/>
            <a:ext cx="238522" cy="3108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空心弧 46">
            <a:extLst>
              <a:ext uri="{FF2B5EF4-FFF2-40B4-BE49-F238E27FC236}">
                <a16:creationId xmlns:a16="http://schemas.microsoft.com/office/drawing/2014/main" id="{CDFBF96E-FDCC-2D9E-2CC9-F81649AD1C08}"/>
              </a:ext>
            </a:extLst>
          </p:cNvPr>
          <p:cNvSpPr/>
          <p:nvPr/>
        </p:nvSpPr>
        <p:spPr>
          <a:xfrm>
            <a:off x="2620313" y="2507782"/>
            <a:ext cx="4720660" cy="914400"/>
          </a:xfrm>
          <a:prstGeom prst="blockArc">
            <a:avLst>
              <a:gd name="adj1" fmla="val 10785260"/>
              <a:gd name="adj2" fmla="val 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8" name="TextBox 17">
            <a:extLst>
              <a:ext uri="{FF2B5EF4-FFF2-40B4-BE49-F238E27FC236}">
                <a16:creationId xmlns:a16="http://schemas.microsoft.com/office/drawing/2014/main" id="{A2BA0624-4587-3F57-0972-C7DFC99FBE4F}"/>
              </a:ext>
            </a:extLst>
          </p:cNvPr>
          <p:cNvSpPr txBox="1"/>
          <p:nvPr/>
        </p:nvSpPr>
        <p:spPr>
          <a:xfrm>
            <a:off x="10521897" y="2387045"/>
            <a:ext cx="6998296" cy="6797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" altLang="zh-CN" sz="2400" b="1" dirty="0"/>
              <a:t> ┌───────────────────────────────────────┐</a:t>
            </a:r>
          </a:p>
          <a:p>
            <a:pPr algn="just">
              <a:lnSpc>
                <a:spcPts val="2939"/>
              </a:lnSpc>
            </a:pPr>
            <a:r>
              <a:rPr lang="en" altLang="zh-CN" sz="2400" b="1" dirty="0"/>
              <a:t> │   Business Integrator –</a:t>
            </a:r>
            <a:r>
              <a:rPr lang="en" altLang="zh-CN" sz="2400" b="1" dirty="0" err="1"/>
              <a:t>Yunmiao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Zhang</a:t>
            </a:r>
            <a:r>
              <a:rPr lang="zh-CN" altLang="en-US" sz="2400" b="1" dirty="0"/>
              <a:t>                </a:t>
            </a:r>
            <a:r>
              <a:rPr lang="en" altLang="zh-CN" sz="2400" b="1" dirty="0"/>
              <a:t>│</a:t>
            </a:r>
          </a:p>
          <a:p>
            <a:pPr algn="just">
              <a:lnSpc>
                <a:spcPts val="2939"/>
              </a:lnSpc>
            </a:pPr>
            <a:r>
              <a:rPr lang="en" altLang="zh-CN" sz="2400" b="1" dirty="0"/>
              <a:t> │   “Bridge between Technology &amp; Operations” </a:t>
            </a:r>
            <a:r>
              <a:rPr lang="zh-CN" altLang="en-US" sz="2400" b="1" dirty="0"/>
              <a:t>  </a:t>
            </a:r>
            <a:r>
              <a:rPr lang="en" altLang="zh-CN" sz="2400" b="1" dirty="0"/>
              <a:t>│</a:t>
            </a:r>
          </a:p>
          <a:p>
            <a:pPr algn="just">
              <a:lnSpc>
                <a:spcPts val="2939"/>
              </a:lnSpc>
            </a:pPr>
            <a:r>
              <a:rPr lang="en" altLang="zh-CN" sz="2400" b="1" dirty="0"/>
              <a:t> └───────────────────────────────────────┘</a:t>
            </a:r>
          </a:p>
          <a:p>
            <a:pPr algn="just">
              <a:lnSpc>
                <a:spcPts val="2939"/>
              </a:lnSpc>
            </a:pPr>
            <a:endParaRPr lang="en" altLang="zh-CN" sz="2400" b="1" dirty="0"/>
          </a:p>
          <a:p>
            <a:pPr algn="just">
              <a:lnSpc>
                <a:spcPts val="2939"/>
              </a:lnSpc>
              <a:spcBef>
                <a:spcPts val="600"/>
              </a:spcBef>
              <a:spcAft>
                <a:spcPts val="1200"/>
              </a:spcAft>
            </a:pPr>
            <a:r>
              <a:rPr lang="en" altLang="zh-CN" sz="2400" b="1" dirty="0"/>
              <a:t>  </a:t>
            </a:r>
            <a:r>
              <a:rPr lang="zh-CN" altLang="en-US" sz="2400" b="1" dirty="0"/>
              <a:t>🔁 </a:t>
            </a:r>
            <a:r>
              <a:rPr lang="en" altLang="zh-CN" sz="2400" b="1" dirty="0"/>
              <a:t>Operating Model Redesign</a:t>
            </a:r>
          </a:p>
          <a:p>
            <a:pPr marL="342900" indent="-342900" algn="just">
              <a:lnSpc>
                <a:spcPts val="2939"/>
              </a:lnSpc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en" altLang="zh-CN" sz="2400" dirty="0"/>
              <a:t>Leading the </a:t>
            </a:r>
            <a:r>
              <a:rPr lang="en" altLang="zh-CN" sz="2400" b="1" dirty="0"/>
              <a:t>SOP re-engineering</a:t>
            </a:r>
            <a:r>
              <a:rPr lang="en" altLang="zh-CN" sz="2400" dirty="0"/>
              <a:t> for maintenance scheduling and AI alert response.</a:t>
            </a:r>
            <a:endParaRPr lang="zh-CN" altLang="en-US" sz="2400" b="1" dirty="0"/>
          </a:p>
          <a:p>
            <a:pPr algn="just">
              <a:lnSpc>
                <a:spcPts val="2939"/>
              </a:lnSpc>
              <a:spcBef>
                <a:spcPts val="600"/>
              </a:spcBef>
              <a:spcAft>
                <a:spcPts val="1200"/>
              </a:spcAft>
            </a:pPr>
            <a:r>
              <a:rPr lang="zh-CN" altLang="en-US" sz="2400" b="1" dirty="0"/>
              <a:t>  📊 </a:t>
            </a:r>
            <a:r>
              <a:rPr lang="en" altLang="zh-CN" sz="2400" b="1" dirty="0"/>
              <a:t>Financial Tracking:</a:t>
            </a:r>
            <a:r>
              <a:rPr lang="en" altLang="zh-CN" sz="2400" dirty="0"/>
              <a:t> </a:t>
            </a:r>
          </a:p>
          <a:p>
            <a:pPr marL="342900" indent="-342900" algn="just">
              <a:lnSpc>
                <a:spcPts val="2939"/>
              </a:lnSpc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en" altLang="zh-CN" sz="2400" dirty="0"/>
              <a:t>Establishing systems to monitor PBP achievement and quantify savings for executive reporting.</a:t>
            </a:r>
            <a:endParaRPr lang="zh-CN" altLang="en-US" sz="2400" b="1" dirty="0"/>
          </a:p>
          <a:p>
            <a:pPr algn="just">
              <a:lnSpc>
                <a:spcPts val="2939"/>
              </a:lnSpc>
              <a:spcBef>
                <a:spcPts val="600"/>
              </a:spcBef>
              <a:spcAft>
                <a:spcPts val="1200"/>
              </a:spcAft>
            </a:pPr>
            <a:r>
              <a:rPr lang="zh-CN" altLang="en-US" sz="2400" b="1" dirty="0"/>
              <a:t>  🧭 </a:t>
            </a:r>
            <a:r>
              <a:rPr lang="en" altLang="zh-CN" sz="2400" b="1" dirty="0"/>
              <a:t>Data Governance &amp; Compliance:</a:t>
            </a:r>
            <a:r>
              <a:rPr lang="en" altLang="zh-CN" sz="2400" dirty="0"/>
              <a:t> </a:t>
            </a:r>
          </a:p>
          <a:p>
            <a:pPr marL="342900" indent="-342900" algn="just">
              <a:lnSpc>
                <a:spcPts val="2939"/>
              </a:lnSpc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en" altLang="zh-CN" sz="2400" dirty="0"/>
              <a:t>Ensuring </a:t>
            </a:r>
            <a:r>
              <a:rPr lang="en" altLang="zh-CN" sz="2400" b="1" dirty="0"/>
              <a:t>L-1 data transparency</a:t>
            </a:r>
            <a:r>
              <a:rPr lang="en" altLang="zh-CN" sz="2400" dirty="0"/>
              <a:t> is implemented and audited, turning AI outputs into auditable field actions.</a:t>
            </a:r>
            <a:endParaRPr lang="zh-CN" altLang="en-US" sz="2400" b="1" dirty="0"/>
          </a:p>
        </p:txBody>
      </p:sp>
      <p:grpSp>
        <p:nvGrpSpPr>
          <p:cNvPr id="70" name="Group 7">
            <a:extLst>
              <a:ext uri="{FF2B5EF4-FFF2-40B4-BE49-F238E27FC236}">
                <a16:creationId xmlns:a16="http://schemas.microsoft.com/office/drawing/2014/main" id="{153829A6-051F-3A8D-3621-35E67E1D4657}"/>
              </a:ext>
            </a:extLst>
          </p:cNvPr>
          <p:cNvGrpSpPr/>
          <p:nvPr/>
        </p:nvGrpSpPr>
        <p:grpSpPr>
          <a:xfrm rot="-5400000">
            <a:off x="2979353" y="6167914"/>
            <a:ext cx="1949271" cy="4217315"/>
            <a:chOff x="0" y="0"/>
            <a:chExt cx="3942848" cy="8530487"/>
          </a:xfrm>
        </p:grpSpPr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5DD14C77-98E8-CC8D-58B4-A06A811CBFF7}"/>
                </a:ext>
              </a:extLst>
            </p:cNvPr>
            <p:cNvSpPr/>
            <p:nvPr/>
          </p:nvSpPr>
          <p:spPr>
            <a:xfrm>
              <a:off x="0" y="0"/>
              <a:ext cx="3942847" cy="8530486"/>
            </a:xfrm>
            <a:custGeom>
              <a:avLst/>
              <a:gdLst/>
              <a:ahLst/>
              <a:cxnLst/>
              <a:rect l="l" t="t" r="r" b="b"/>
              <a:pathLst>
                <a:path w="3942847" h="8530486">
                  <a:moveTo>
                    <a:pt x="0" y="4265243"/>
                  </a:moveTo>
                  <a:lnTo>
                    <a:pt x="0" y="0"/>
                  </a:lnTo>
                  <a:cubicBezTo>
                    <a:pt x="2178111" y="0"/>
                    <a:pt x="3942847" y="1909034"/>
                    <a:pt x="3942847" y="4265243"/>
                  </a:cubicBezTo>
                  <a:cubicBezTo>
                    <a:pt x="3942847" y="6621452"/>
                    <a:pt x="2178111" y="8530486"/>
                    <a:pt x="0" y="8530486"/>
                  </a:cubicBezTo>
                  <a:lnTo>
                    <a:pt x="0" y="4265243"/>
                  </a:lnTo>
                  <a:close/>
                </a:path>
              </a:pathLst>
            </a:custGeom>
            <a:solidFill>
              <a:srgbClr val="0038D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72" name="Group 7">
            <a:extLst>
              <a:ext uri="{FF2B5EF4-FFF2-40B4-BE49-F238E27FC236}">
                <a16:creationId xmlns:a16="http://schemas.microsoft.com/office/drawing/2014/main" id="{100A74D7-ECD2-C149-FA60-C2CF91FC83D8}"/>
              </a:ext>
            </a:extLst>
          </p:cNvPr>
          <p:cNvGrpSpPr/>
          <p:nvPr/>
        </p:nvGrpSpPr>
        <p:grpSpPr>
          <a:xfrm rot="-5400000">
            <a:off x="2979353" y="4651935"/>
            <a:ext cx="1949271" cy="4217315"/>
            <a:chOff x="0" y="0"/>
            <a:chExt cx="3942848" cy="8530487"/>
          </a:xfrm>
        </p:grpSpPr>
        <p:sp>
          <p:nvSpPr>
            <p:cNvPr id="73" name="Freeform 8">
              <a:extLst>
                <a:ext uri="{FF2B5EF4-FFF2-40B4-BE49-F238E27FC236}">
                  <a16:creationId xmlns:a16="http://schemas.microsoft.com/office/drawing/2014/main" id="{B5DFA3BF-122E-D88A-064A-9774CB9DD94F}"/>
                </a:ext>
              </a:extLst>
            </p:cNvPr>
            <p:cNvSpPr/>
            <p:nvPr/>
          </p:nvSpPr>
          <p:spPr>
            <a:xfrm>
              <a:off x="0" y="0"/>
              <a:ext cx="3942847" cy="8530486"/>
            </a:xfrm>
            <a:custGeom>
              <a:avLst/>
              <a:gdLst/>
              <a:ahLst/>
              <a:cxnLst/>
              <a:rect l="l" t="t" r="r" b="b"/>
              <a:pathLst>
                <a:path w="3942847" h="8530486">
                  <a:moveTo>
                    <a:pt x="0" y="4265243"/>
                  </a:moveTo>
                  <a:lnTo>
                    <a:pt x="0" y="0"/>
                  </a:lnTo>
                  <a:cubicBezTo>
                    <a:pt x="2178111" y="0"/>
                    <a:pt x="3942847" y="1909034"/>
                    <a:pt x="3942847" y="4265243"/>
                  </a:cubicBezTo>
                  <a:cubicBezTo>
                    <a:pt x="3942847" y="6621452"/>
                    <a:pt x="2178111" y="8530486"/>
                    <a:pt x="0" y="8530486"/>
                  </a:cubicBezTo>
                  <a:lnTo>
                    <a:pt x="0" y="4265243"/>
                  </a:lnTo>
                  <a:close/>
                </a:path>
              </a:pathLst>
            </a:custGeom>
            <a:solidFill>
              <a:srgbClr val="0038D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18">
            <a:extLst>
              <a:ext uri="{FF2B5EF4-FFF2-40B4-BE49-F238E27FC236}">
                <a16:creationId xmlns:a16="http://schemas.microsoft.com/office/drawing/2014/main" id="{4D08E9D7-0C8F-85E9-544F-7ED9412E5A12}"/>
              </a:ext>
            </a:extLst>
          </p:cNvPr>
          <p:cNvSpPr txBox="1"/>
          <p:nvPr/>
        </p:nvSpPr>
        <p:spPr>
          <a:xfrm>
            <a:off x="14402872" y="9566540"/>
            <a:ext cx="3117321" cy="43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zh-CN" sz="25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6</a:t>
            </a:r>
            <a:endParaRPr lang="en-US" sz="2599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723103"/>
            <a:ext cx="243939" cy="24393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D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61678" y="619159"/>
            <a:ext cx="14487922" cy="389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151"/>
              </a:lnSpc>
              <a:spcBef>
                <a:spcPct val="0"/>
              </a:spcBef>
            </a:pPr>
            <a:r>
              <a:rPr lang="en" altLang="zh-CN" sz="2400" dirty="0"/>
              <a:t>All core risks are fully identified and mitigated, creating a secure investment pathway for the Board.</a:t>
            </a:r>
            <a:endParaRPr lang="en-US" sz="2251" b="1" dirty="0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-1999641" y="8328020"/>
            <a:ext cx="3999281" cy="3999281"/>
          </a:xfrm>
          <a:custGeom>
            <a:avLst/>
            <a:gdLst/>
            <a:ahLst/>
            <a:cxnLst/>
            <a:rect l="l" t="t" r="r" b="b"/>
            <a:pathLst>
              <a:path w="3999281" h="3999281">
                <a:moveTo>
                  <a:pt x="0" y="0"/>
                </a:moveTo>
                <a:lnTo>
                  <a:pt x="3999282" y="0"/>
                </a:lnTo>
                <a:lnTo>
                  <a:pt x="3999282" y="3999281"/>
                </a:lnTo>
                <a:lnTo>
                  <a:pt x="0" y="3999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 rot="-5400000">
            <a:off x="16024843" y="335843"/>
            <a:ext cx="1112487" cy="2224975"/>
            <a:chOff x="0" y="0"/>
            <a:chExt cx="3331210" cy="66624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331210" cy="6662420"/>
            </a:xfrm>
            <a:custGeom>
              <a:avLst/>
              <a:gdLst/>
              <a:ahLst/>
              <a:cxnLst/>
              <a:rect l="l" t="t" r="r" b="b"/>
              <a:pathLst>
                <a:path w="3331210" h="666242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solidFill>
              <a:srgbClr val="F8F8F8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 rot="-5400000">
            <a:off x="16024844" y="-556244"/>
            <a:ext cx="1112487" cy="2224975"/>
            <a:chOff x="0" y="0"/>
            <a:chExt cx="3331210" cy="66624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331210" cy="6662420"/>
            </a:xfrm>
            <a:custGeom>
              <a:avLst/>
              <a:gdLst/>
              <a:ahLst/>
              <a:cxnLst/>
              <a:rect l="l" t="t" r="r" b="b"/>
              <a:pathLst>
                <a:path w="3331210" h="666242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solidFill>
              <a:srgbClr val="0038D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DD5E9701-D14A-AA89-BB24-1EAFCA9B833A}"/>
              </a:ext>
            </a:extLst>
          </p:cNvPr>
          <p:cNvSpPr txBox="1"/>
          <p:nvPr/>
        </p:nvSpPr>
        <p:spPr>
          <a:xfrm>
            <a:off x="2226382" y="6935331"/>
            <a:ext cx="16088122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" altLang="zh-CN" sz="2800" b="1" dirty="0"/>
              <a:t>Call to Action (The Ask):</a:t>
            </a:r>
            <a:endParaRPr lang="en" altLang="zh-CN" sz="2800" dirty="0"/>
          </a:p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" altLang="zh-CN" sz="2800" b="1" dirty="0"/>
              <a:t>CAPEX Approval:</a:t>
            </a:r>
            <a:r>
              <a:rPr lang="en" altLang="zh-CN" sz="2800" dirty="0"/>
              <a:t> Immediately approve the </a:t>
            </a:r>
            <a:r>
              <a:rPr lang="en" altLang="zh-CN" sz="2800" b="1" dirty="0"/>
              <a:t>$12 M</a:t>
            </a:r>
            <a:r>
              <a:rPr lang="en" altLang="zh-CN" sz="2800" dirty="0"/>
              <a:t> T-1 Program startup budget.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" altLang="zh-CN" sz="2800" b="1" dirty="0"/>
              <a:t>Team Authorization:</a:t>
            </a:r>
            <a:r>
              <a:rPr lang="en" altLang="zh-CN" sz="2800" dirty="0"/>
              <a:t> Formally authorize the cross-functional team and appoint the </a:t>
            </a:r>
            <a:r>
              <a:rPr lang="en" altLang="zh-CN" sz="2800" b="1" dirty="0"/>
              <a:t>Business Integrator</a:t>
            </a:r>
            <a:r>
              <a:rPr lang="en" altLang="zh-CN" sz="2800" dirty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" altLang="zh-CN" sz="2800" b="1" dirty="0"/>
              <a:t>Strategic Mandate:</a:t>
            </a:r>
            <a:r>
              <a:rPr lang="en" altLang="zh-CN" sz="2800" dirty="0"/>
              <a:t> Elevate T-1 Data Governance to a </a:t>
            </a:r>
            <a:r>
              <a:rPr lang="en" altLang="zh-CN" sz="2800" b="1" dirty="0"/>
              <a:t>Top Strategic Priority</a:t>
            </a:r>
            <a:r>
              <a:rPr lang="en" altLang="zh-CN" sz="2800" dirty="0"/>
              <a:t> for AT for the next 12 months.</a:t>
            </a:r>
          </a:p>
          <a:p>
            <a:endParaRPr kumimoji="1"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07CF95-C2D3-ED82-DBBD-7A4775553446}"/>
              </a:ext>
            </a:extLst>
          </p:cNvPr>
          <p:cNvSpPr txBox="1"/>
          <p:nvPr/>
        </p:nvSpPr>
        <p:spPr>
          <a:xfrm>
            <a:off x="457200" y="1503692"/>
            <a:ext cx="18135157" cy="44935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" altLang="zh-CN" sz="2800" b="1" dirty="0"/>
              <a:t>Key Risks &amp; Mitigation:</a:t>
            </a:r>
            <a:endParaRPr lang="en" altLang="zh-CN" sz="2800" dirty="0"/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" altLang="zh-CN" sz="2800" b="1" dirty="0"/>
              <a:t>1. Data Quality &amp; Governance (High Risk):</a:t>
            </a:r>
            <a:r>
              <a:rPr lang="en" altLang="zh-CN" sz="2800" dirty="0"/>
              <a:t> 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" altLang="zh-CN" sz="2800" dirty="0"/>
              <a:t>Mitigation: Implement the </a:t>
            </a:r>
            <a:r>
              <a:rPr lang="en" altLang="zh-CN" sz="2800" b="1" dirty="0"/>
              <a:t>L-1 data transparency protocol</a:t>
            </a:r>
            <a:r>
              <a:rPr lang="en" altLang="zh-CN" sz="2800" dirty="0"/>
              <a:t> from the pilot stage to enforce early standards.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" altLang="zh-CN" sz="2800" b="1" dirty="0"/>
              <a:t>2. Organizational Change Resistance:</a:t>
            </a:r>
            <a:r>
              <a:rPr lang="en" altLang="zh-CN" sz="2800" dirty="0"/>
              <a:t> 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" altLang="zh-CN" sz="2800" dirty="0"/>
              <a:t>Mitigation: Integrate maintenance teams into the model design and training from Phase 1 to build adoption and capability.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" altLang="zh-CN" sz="2800" b="1" dirty="0"/>
              <a:t>3. IT Integration (Medium Risk):</a:t>
            </a:r>
            <a:r>
              <a:rPr lang="en" altLang="zh-CN" sz="2800" dirty="0"/>
              <a:t> 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" altLang="zh-CN" sz="2800" dirty="0"/>
              <a:t>Mitigation: Utilize an </a:t>
            </a:r>
            <a:r>
              <a:rPr lang="en" altLang="zh-CN" sz="2800" b="1" dirty="0"/>
              <a:t>API-first architecture</a:t>
            </a:r>
            <a:r>
              <a:rPr lang="en" altLang="zh-CN" sz="2800" dirty="0"/>
              <a:t> for a loosely coupled integration with legacy systems (e.g., SAP PM).</a:t>
            </a:r>
          </a:p>
        </p:txBody>
      </p:sp>
      <p:sp>
        <p:nvSpPr>
          <p:cNvPr id="7" name="矩形标注 6">
            <a:extLst>
              <a:ext uri="{FF2B5EF4-FFF2-40B4-BE49-F238E27FC236}">
                <a16:creationId xmlns:a16="http://schemas.microsoft.com/office/drawing/2014/main" id="{31E5E2F4-7B1B-48A3-EDDA-72A05F758913}"/>
              </a:ext>
            </a:extLst>
          </p:cNvPr>
          <p:cNvSpPr/>
          <p:nvPr/>
        </p:nvSpPr>
        <p:spPr>
          <a:xfrm>
            <a:off x="1905000" y="6743700"/>
            <a:ext cx="16230600" cy="2924141"/>
          </a:xfrm>
          <a:prstGeom prst="wedgeRectCallout">
            <a:avLst/>
          </a:prstGeom>
          <a:noFill/>
          <a:ln>
            <a:solidFill>
              <a:srgbClr val="0118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TextBox 18">
            <a:extLst>
              <a:ext uri="{FF2B5EF4-FFF2-40B4-BE49-F238E27FC236}">
                <a16:creationId xmlns:a16="http://schemas.microsoft.com/office/drawing/2014/main" id="{772F7A84-740A-2BB4-923F-238316B7AE36}"/>
              </a:ext>
            </a:extLst>
          </p:cNvPr>
          <p:cNvSpPr txBox="1"/>
          <p:nvPr/>
        </p:nvSpPr>
        <p:spPr>
          <a:xfrm>
            <a:off x="14539467" y="9720709"/>
            <a:ext cx="3117321" cy="43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zh-CN" sz="25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7</a:t>
            </a:r>
            <a:endParaRPr lang="en-US" sz="2599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723103"/>
            <a:ext cx="243939" cy="24393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D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82699" y="0"/>
            <a:ext cx="10969083" cy="10334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875"/>
              </a:lnSpc>
            </a:pPr>
            <a:r>
              <a:rPr lang="en" altLang="zh-CN" sz="2400" dirty="0"/>
              <a:t>AI Digital Twin-Driven T-1 Predictive Maintenance Program</a:t>
            </a:r>
            <a:endParaRPr lang="en-US" altLang="zh-CN" sz="9600" b="1" dirty="0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80431" y="8792032"/>
            <a:ext cx="1712713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717163" y="9020581"/>
            <a:ext cx="3117321" cy="43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dirty="0" err="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Yunmiao</a:t>
            </a:r>
            <a:r>
              <a:rPr lang="en-US" sz="25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Zhang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96636" y="9020581"/>
            <a:ext cx="4064035" cy="43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Auckland Transport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06782" y="9020581"/>
            <a:ext cx="1406261" cy="47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-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30761" y="9020581"/>
            <a:ext cx="1406261" cy="47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-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14834" y="3820248"/>
            <a:ext cx="10553719" cy="1092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5"/>
              </a:lnSpc>
            </a:pPr>
            <a:r>
              <a:rPr lang="en-US" sz="8405" b="1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 !</a:t>
            </a:r>
          </a:p>
        </p:txBody>
      </p:sp>
      <p:grpSp>
        <p:nvGrpSpPr>
          <p:cNvPr id="18" name="Group 18"/>
          <p:cNvGrpSpPr/>
          <p:nvPr/>
        </p:nvGrpSpPr>
        <p:grpSpPr>
          <a:xfrm rot="-5400000">
            <a:off x="15396224" y="2693394"/>
            <a:ext cx="914299" cy="1828597"/>
            <a:chOff x="0" y="0"/>
            <a:chExt cx="3331210" cy="66624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31210" cy="6662420"/>
            </a:xfrm>
            <a:custGeom>
              <a:avLst/>
              <a:gdLst/>
              <a:ahLst/>
              <a:cxnLst/>
              <a:rect l="l" t="t" r="r" b="b"/>
              <a:pathLst>
                <a:path w="3331210" h="666242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solidFill>
              <a:srgbClr val="F8F8F8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 rot="-5400000">
            <a:off x="15396224" y="1779095"/>
            <a:ext cx="914299" cy="1828597"/>
            <a:chOff x="0" y="0"/>
            <a:chExt cx="3331210" cy="66624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331210" cy="6662420"/>
            </a:xfrm>
            <a:custGeom>
              <a:avLst/>
              <a:gdLst/>
              <a:ahLst/>
              <a:cxnLst/>
              <a:rect l="l" t="t" r="r" b="b"/>
              <a:pathLst>
                <a:path w="3331210" h="666242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solidFill>
              <a:srgbClr val="0038D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2" name="Freeform 22"/>
          <p:cNvSpPr/>
          <p:nvPr/>
        </p:nvSpPr>
        <p:spPr>
          <a:xfrm>
            <a:off x="1841565" y="6551949"/>
            <a:ext cx="1491976" cy="925025"/>
          </a:xfrm>
          <a:custGeom>
            <a:avLst/>
            <a:gdLst/>
            <a:ahLst/>
            <a:cxnLst/>
            <a:rect l="l" t="t" r="r" b="b"/>
            <a:pathLst>
              <a:path w="1491976" h="925025">
                <a:moveTo>
                  <a:pt x="0" y="0"/>
                </a:moveTo>
                <a:lnTo>
                  <a:pt x="1491977" y="0"/>
                </a:lnTo>
                <a:lnTo>
                  <a:pt x="1491977" y="925025"/>
                </a:lnTo>
                <a:lnTo>
                  <a:pt x="0" y="925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47750" y="2290053"/>
            <a:ext cx="1625731" cy="1625731"/>
          </a:xfrm>
          <a:custGeom>
            <a:avLst/>
            <a:gdLst/>
            <a:ahLst/>
            <a:cxnLst/>
            <a:rect l="l" t="t" r="r" b="b"/>
            <a:pathLst>
              <a:path w="1625731" h="1625731">
                <a:moveTo>
                  <a:pt x="0" y="0"/>
                </a:moveTo>
                <a:lnTo>
                  <a:pt x="1625731" y="0"/>
                </a:lnTo>
                <a:lnTo>
                  <a:pt x="1625731" y="1625730"/>
                </a:lnTo>
                <a:lnTo>
                  <a:pt x="0" y="1625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flipH="1">
            <a:off x="17540144" y="5476221"/>
            <a:ext cx="2158903" cy="2510352"/>
          </a:xfrm>
          <a:custGeom>
            <a:avLst/>
            <a:gdLst/>
            <a:ahLst/>
            <a:cxnLst/>
            <a:rect l="l" t="t" r="r" b="b"/>
            <a:pathLst>
              <a:path w="2158903" h="2510352">
                <a:moveTo>
                  <a:pt x="2158903" y="0"/>
                </a:moveTo>
                <a:lnTo>
                  <a:pt x="0" y="0"/>
                </a:lnTo>
                <a:lnTo>
                  <a:pt x="0" y="2510353"/>
                </a:lnTo>
                <a:lnTo>
                  <a:pt x="2158903" y="2510353"/>
                </a:lnTo>
                <a:lnTo>
                  <a:pt x="215890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86CCD7A4-386A-0DB5-2558-FD087D1056CB}"/>
              </a:ext>
            </a:extLst>
          </p:cNvPr>
          <p:cNvSpPr txBox="1"/>
          <p:nvPr/>
        </p:nvSpPr>
        <p:spPr>
          <a:xfrm>
            <a:off x="14422822" y="9096781"/>
            <a:ext cx="3117321" cy="43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zh-CN" sz="25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8</a:t>
            </a:r>
            <a:endParaRPr lang="en-US" sz="2599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1049</Words>
  <Application>Microsoft Macintosh PowerPoint</Application>
  <PresentationFormat>自定义</PresentationFormat>
  <Paragraphs>127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Wingdings</vt:lpstr>
      <vt:lpstr>Telegraf Bold</vt:lpstr>
      <vt:lpstr>Arial</vt:lpstr>
      <vt:lpstr>Calibri</vt:lpstr>
      <vt:lpstr>Telegraf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Startup Presentation</dc:title>
  <cp:lastModifiedBy>Aster Zhang</cp:lastModifiedBy>
  <cp:revision>19</cp:revision>
  <dcterms:created xsi:type="dcterms:W3CDTF">2006-08-16T00:00:00Z</dcterms:created>
  <dcterms:modified xsi:type="dcterms:W3CDTF">2025-10-27T01:05:04Z</dcterms:modified>
  <dc:identifier>DAG21-p7il8</dc:identifier>
</cp:coreProperties>
</file>